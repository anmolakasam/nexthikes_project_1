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174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NextHike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GUI Calculator Using the Tkinter Library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41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922859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13727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Graphical User Interface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54595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fully functional scientific calculator with a graphical user interface built using Python and Tkinter.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922859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13727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Arithmetic Operations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54595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basic arithmetic operations: addition, subtraction, multiplication, and division.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1922859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137271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Functions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54595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Includes trigonometry, logarithms, square root, factorial, and power operations.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59052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373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Dual Input Methods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78214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both button-based input and keyboard input with intelligent real-time filtering.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4159052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373463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Handling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782145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Implements comprehensive error handling for invalid expressions and mathematical edge cases.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904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Architecture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67719"/>
            <a:ext cx="3496877" cy="175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821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Programming language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90813"/>
            <a:ext cx="2966467" cy="919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3.x with the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module imported as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scientific calculations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67719"/>
            <a:ext cx="3496877" cy="17574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2821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 framework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69081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Tkinter — Python's standard library for creating graphical interfaces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067719"/>
            <a:ext cx="3496877" cy="17574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2821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methods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69081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 clicks and keyboard input with real-time validation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14192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86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Entry widget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728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Restricted to valid calculator characters only (0–9, +, −, *, /, .)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4014192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860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handling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728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Try-except blocks to manage invalid expressions and mathematical errors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47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Functions: Arithmetic Operations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633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add(a, b)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sum of two numbers. Accepts numeric input only. Used for all addition operations.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2633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subtract(a, b)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difference of two numbers. Handles negative results correctly.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263378"/>
            <a:ext cx="3496877" cy="1706662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245874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multiply(a, b)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286742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product of two numbers. Accepts any numeric values, including decimals.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15905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6832" y="435441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divide(a, b)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76309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the quotient. Includes error handling to prevent division by zero crashes.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15905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5658" y="4354413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expression_break(sign, expression)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85658" y="4763095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Parses expressions by splitting at the operator. Essential for breaking down complex calculations into operands.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37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Functions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042418"/>
            <a:ext cx="3496877" cy="1984276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75881" y="22568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Trigonometric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75881" y="2665512"/>
            <a:ext cx="3068065" cy="1039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sin()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cos()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tan()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in radians or degrees via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deg()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converters.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2042418"/>
            <a:ext cx="3496877" cy="1984276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61766" y="22568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Logarithmic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61766" y="2665512"/>
            <a:ext cx="3068065" cy="1146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Base 10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ln()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Natural log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require strictly positive input.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2042418"/>
            <a:ext cx="3496877" cy="1984276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47650" y="2256830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Power and Root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47650" y="2665512"/>
            <a:ext cx="3068065" cy="730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pow()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raises to a power.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requires non-negative input.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215705"/>
            <a:ext cx="10868646" cy="1568450"/>
          </a:xfrm>
          <a:prstGeom prst="roundRect">
            <a:avLst>
              <a:gd name="adj" fmla="val 5062"/>
            </a:avLst>
          </a:prstGeom>
          <a:solidFill>
            <a:srgbClr val="FFFFFF"/>
          </a:solidFill>
          <a:ln w="25399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5881" y="4430117"/>
            <a:ext cx="104398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Factorial and Remainder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75881" y="4838799"/>
            <a:ext cx="10439833" cy="730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Non-negative integers only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Modulo operation for any numeric values.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0229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Validation and Keyboard Support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626691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8992" y="1660426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8417" y="1688604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key_filter(event)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8417" y="2073077"/>
            <a:ext cx="1029180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Validates keyboard input in real time. Permits only digits (0–9), operators (+, −, *, /), and the decimal point. All alphabetic characters are blocked automatically.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97944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8992" y="301317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38417" y="3041352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press(input)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238417" y="3425825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button clicks and appends input to the Entry widget. Ensures only valid characters are added to the expression string.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4050705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992" y="4084439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8417" y="4112617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 Key Binding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8417" y="4497090"/>
            <a:ext cx="10291803" cy="287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Enter key is bound to the </a:t>
            </a:r>
            <a:r>
              <a:rPr lang="en-US" sz="140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equal()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for immediate calculation, eliminating the need to click the equals button.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61475" y="5128320"/>
            <a:ext cx="405298" cy="40530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8992" y="516205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kern="0" spc="-6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38417" y="5190232"/>
            <a:ext cx="10291803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Button-Only Scientific Input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38417" y="5574705"/>
            <a:ext cx="10291803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Trigonometric and logarithmic functions are button-based only, ensuring correct syntax and preventing parsing errors from manual typing.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95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 Input Examples and Expected Behavior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78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Arithmetic and Decimal Operations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185988"/>
            <a:ext cx="5203794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2737445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285728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3834011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382294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93057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478859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6931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52428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56931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+ 3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52428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6931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10 − 4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452428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56931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* 7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52428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6931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4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2428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56931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 + 2.5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452428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56931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10.5 / 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452428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5.25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332776" y="1678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and Chained Operations</a:t>
            </a:r>
            <a:endParaRPr lang="en-US" sz="1850" dirty="0"/>
          </a:p>
        </p:txBody>
      </p:sp>
      <p:sp>
        <p:nvSpPr>
          <p:cNvPr id="26" name="Shape 24"/>
          <p:cNvSpPr/>
          <p:nvPr/>
        </p:nvSpPr>
        <p:spPr>
          <a:xfrm>
            <a:off x="6332776" y="2185988"/>
            <a:ext cx="5203794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2776" y="2737445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32776" y="3285728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332776" y="3834011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332776" y="4382294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332776" y="493057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32776" y="5478859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28232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123730" y="2312095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528232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sin(0)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123730" y="2860377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528232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sqrt(16)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123730" y="3408660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528232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log(100)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123730" y="3956943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528232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fac(5)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9123730" y="4505226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6528232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+ 3 * 4</a:t>
            </a:r>
            <a:endParaRPr lang="en-US" sz="1450" dirty="0"/>
          </a:p>
        </p:txBody>
      </p:sp>
      <p:sp>
        <p:nvSpPr>
          <p:cNvPr id="44" name="Text 42"/>
          <p:cNvSpPr/>
          <p:nvPr/>
        </p:nvSpPr>
        <p:spPr>
          <a:xfrm>
            <a:off x="9123730" y="5053509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528232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Keyboard: 5 + 3 + Enter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9123730" y="5601791"/>
            <a:ext cx="28270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534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 Inputs and Error Handling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24013"/>
            <a:ext cx="3496877" cy="20471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183842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Division by Zero — "5/0"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24710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Caught by a try-except block. An error message is displayed, and the program continues without crashing.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1624013"/>
            <a:ext cx="3496877" cy="20471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183842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Malformed Expressions — "5++3" or "*/5"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542381"/>
            <a:ext cx="2966467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expression_break()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detects malformed syntax and triggers the error handler gracefully.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1624013"/>
            <a:ext cx="3496877" cy="20471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1838424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Alphabet Characters — "5a+3"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542381"/>
            <a:ext cx="2966467" cy="913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character 'a' is automatically blocked by </a:t>
            </a:r>
            <a:r>
              <a:rPr lang="en-US" sz="1450" kern="0" spc="-3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key_filter()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Only "5+3" is accepted into the Entry widget.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860205"/>
            <a:ext cx="3496877" cy="23424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07461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Invalid Scientific Input — "sqrt(−4)" or "log(0)"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77857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square root of a negative number and the logarithm of zero are mathematically undefined. Both trigger error messages.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47359" y="3860205"/>
            <a:ext cx="3496877" cy="23424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07461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Factorial of Decimals — "fac(5.5)"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778573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Factorial is defined only for non-negative integers. Button-based input prevents this error; manual entry triggers the handler.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3831" y="275571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Code Structure: A Detailed Breakdown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433831" y="993846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is a line-by-line breakdown of the scientific calculator code, organized by the main sections of the program and the role each one plays.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33831" y="1460999"/>
            <a:ext cx="11324337" cy="4955527"/>
          </a:xfrm>
          <a:prstGeom prst="rect">
            <a:avLst/>
          </a:prstGeom>
          <a:noFill/>
          <a:ln/>
        </p:spPr>
        <p:txBody>
          <a:bodyPr wrap="square" lIns="0" tIns="59068" rIns="0" bIns="0" rtlCol="0" anchor="t">
            <a:normAutofit fontScale="92500" lnSpcReduction="20000"/>
          </a:bodyPr>
          <a:lstStyle/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Imports and Window Setup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program starts by importing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tkinter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the GUI and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math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scientific calculations. It then creates the main window, sets the title, configures the geometry, and applies basic window settings so the calculator opens in a consistent layout.</a:t>
            </a:r>
          </a:p>
          <a:p>
            <a:pPr algn="just">
              <a:lnSpc>
                <a:spcPct val="119000"/>
              </a:lnSpc>
              <a:buSzPct val="100000"/>
            </a:pP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Arithmetic Functions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functions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subtract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multiply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accept numeric parameters and return the corresponding result. These functions form the foundation for the calculator’s basic operations and keep the arithmetic logic separate from the interface.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Expression Parsing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expression_break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scans the input string and splits it around operators. This helps the calculator identify what kind of operation the user entered and separates the values needed for computation.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Scientific Functions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scientific_function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logic uses an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if-elif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chain to handle functions such as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tan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cos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sin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sqrt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ln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deg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rad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fac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Each branch checks the requested operation and applies the matching mathematical rule.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Calculation Logic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equal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is the central evaluation point. It uses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try-except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blocks to catch invalid input and uses operator detection with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find()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rindex()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determine which arithmetic path to execute before displaying the result.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Validation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key_filter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blocks invalid characters from being typed into the entry field. This prevents unsupported input from reaching the calculator logic and reduces the chance of malformed expressions.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 Entry Widget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Entry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widget is connected to a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StringVar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the display can be updated dynamically. It also binds keyboard actions such as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KP_Enter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users can submit calculations directly from the keyboard.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Button Grid Layout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buttons are arranged in a structured grid with separate rows for scientific functions, number keys, and operation keys. This layout makes the calculator easy to scan and mirrors the familiar layout of a physical scientific calculator.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Handlers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press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handles button clicks by inserting the selected value into the entry field. The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back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functions support editing by removing all input or deleting the most recent character.</a:t>
            </a:r>
            <a:endParaRPr lang="en-US" sz="1150" dirty="0"/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endParaRPr lang="en-US" sz="1150" b="1" kern="0" spc="-23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233680" indent="-233680" algn="just">
              <a:lnSpc>
                <a:spcPct val="119000"/>
              </a:lnSpc>
              <a:buSzPct val="100000"/>
              <a:buChar char="•"/>
            </a:pPr>
            <a:r>
              <a:rPr lang="en-US" sz="1150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Event Loop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The program ends with </a:t>
            </a:r>
            <a:r>
              <a:rPr lang="en-US" sz="1150" kern="0" spc="-23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mainloop()</a:t>
            </a: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which keeps the window open and continuously listens for user actions. Without this event loop, the interface would appear briefly and then close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7934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356682" y="376207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am immensely grateful for the invaluable opportunity and guidance provided throughout this project.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1171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Consolas</vt:lpstr>
      <vt:lpstr>Inter Bold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Sam Sandhu</cp:lastModifiedBy>
  <cp:revision>2</cp:revision>
  <dcterms:created xsi:type="dcterms:W3CDTF">2026-08-25T06:31:32Z</dcterms:created>
  <dcterms:modified xsi:type="dcterms:W3CDTF">2026-08-25T06:34:25Z</dcterms:modified>
</cp:coreProperties>
</file>