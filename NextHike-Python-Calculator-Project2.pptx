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embeddedFontLst>
    <p:embeddedFont>
      <p:font typeface="Consolas" panose="020B0609020204030204" pitchFamily="49" charset="0"/>
      <p:regular r:id="rId12"/>
      <p:bold r:id="rId13"/>
      <p:italic r:id="rId14"/>
      <p:boldItalic r:id="rId15"/>
    </p:embeddedFont>
    <p:embeddedFont>
      <p:font typeface="Inter" panose="020B0604020202020204" charset="0"/>
      <p:regular r:id="rId16"/>
    </p:embeddedFont>
    <p:embeddedFont>
      <p:font typeface="Inter Bold" panose="020B0604020202020204" charset="0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1898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13" Type="http://schemas.openxmlformats.org/officeDocument/2006/relationships/image" Target="../media/image20.png"/><Relationship Id="rId18" Type="http://schemas.openxmlformats.org/officeDocument/2006/relationships/image" Target="../media/image25.svg"/><Relationship Id="rId26" Type="http://schemas.openxmlformats.org/officeDocument/2006/relationships/image" Target="../media/image33.svg"/><Relationship Id="rId3" Type="http://schemas.openxmlformats.org/officeDocument/2006/relationships/image" Target="../media/image10.png"/><Relationship Id="rId21" Type="http://schemas.openxmlformats.org/officeDocument/2006/relationships/image" Target="../media/image28.png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17" Type="http://schemas.openxmlformats.org/officeDocument/2006/relationships/image" Target="../media/image24.png"/><Relationship Id="rId25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3.svg"/><Relationship Id="rId20" Type="http://schemas.openxmlformats.org/officeDocument/2006/relationships/image" Target="../media/image2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11" Type="http://schemas.openxmlformats.org/officeDocument/2006/relationships/image" Target="../media/image18.png"/><Relationship Id="rId24" Type="http://schemas.openxmlformats.org/officeDocument/2006/relationships/image" Target="../media/image31.sv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23" Type="http://schemas.openxmlformats.org/officeDocument/2006/relationships/image" Target="../media/image30.png"/><Relationship Id="rId10" Type="http://schemas.openxmlformats.org/officeDocument/2006/relationships/image" Target="../media/image17.svg"/><Relationship Id="rId19" Type="http://schemas.openxmlformats.org/officeDocument/2006/relationships/image" Target="../media/image26.png"/><Relationship Id="rId4" Type="http://schemas.openxmlformats.org/officeDocument/2006/relationships/image" Target="../media/image11.svg"/><Relationship Id="rId9" Type="http://schemas.openxmlformats.org/officeDocument/2006/relationships/image" Target="../media/image16.png"/><Relationship Id="rId14" Type="http://schemas.openxmlformats.org/officeDocument/2006/relationships/image" Target="../media/image21.svg"/><Relationship Id="rId22" Type="http://schemas.openxmlformats.org/officeDocument/2006/relationships/image" Target="../media/image29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sv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12" Type="http://schemas.openxmlformats.org/officeDocument/2006/relationships/image" Target="../media/image43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svg"/><Relationship Id="rId11" Type="http://schemas.openxmlformats.org/officeDocument/2006/relationships/image" Target="../media/image42.png"/><Relationship Id="rId5" Type="http://schemas.openxmlformats.org/officeDocument/2006/relationships/image" Target="../media/image36.png"/><Relationship Id="rId10" Type="http://schemas.openxmlformats.org/officeDocument/2006/relationships/image" Target="../media/image41.svg"/><Relationship Id="rId4" Type="http://schemas.openxmlformats.org/officeDocument/2006/relationships/image" Target="../media/image35.svg"/><Relationship Id="rId9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279340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NextHike – Python Calculator Project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356682" y="3762077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GUI Calculator Using the Tkinter Library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5418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Project Overview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1922859"/>
            <a:ext cx="3496877" cy="20471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77479" y="213727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Graphical User Interface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977479" y="2545953"/>
            <a:ext cx="2966467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fully functional scientific calculator with a graphical user interface built using Python and Tkinter.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1922859"/>
            <a:ext cx="3496877" cy="20471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63363" y="213727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Arithmetic Operations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663363" y="2545953"/>
            <a:ext cx="296646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Supports basic arithmetic operations: addition, subtraction, multiplication, and division.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33244" y="1922859"/>
            <a:ext cx="3496877" cy="20471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349247" y="213727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Scientific Functions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349247" y="2545953"/>
            <a:ext cx="296646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Includes trigonometry, logarithms, square root, factorial, and power operations.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4159052"/>
            <a:ext cx="3496877" cy="174476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77479" y="4373463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Dual Input Methods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977479" y="4782145"/>
            <a:ext cx="296646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Accepts both button-based input and keyboard input with intelligent real-time filtering.</a:t>
            </a:r>
            <a:endParaRPr lang="en-US" sz="14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47359" y="4159052"/>
            <a:ext cx="3496877" cy="174476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4663363" y="4373463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Error Handling</a:t>
            </a:r>
            <a:endParaRPr lang="en-US" sz="1850" dirty="0"/>
          </a:p>
        </p:txBody>
      </p:sp>
      <p:sp>
        <p:nvSpPr>
          <p:cNvPr id="17" name="Text 10"/>
          <p:cNvSpPr/>
          <p:nvPr/>
        </p:nvSpPr>
        <p:spPr>
          <a:xfrm>
            <a:off x="4663363" y="4782145"/>
            <a:ext cx="296646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Implements comprehensive error handling for invalid expressions and mathematical edge cases.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9904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Core Architecture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067719"/>
            <a:ext cx="3496877" cy="175746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77479" y="2282130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Programming language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977479" y="2690813"/>
            <a:ext cx="2966467" cy="919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3.x with the </a:t>
            </a:r>
            <a:r>
              <a:rPr lang="en-US" sz="1450" kern="0" spc="-3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math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module imported as </a:t>
            </a:r>
            <a:r>
              <a:rPr lang="en-US" sz="1450" kern="0" spc="-3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scientific calculations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2067719"/>
            <a:ext cx="3496877" cy="175746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63363" y="2282130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GUI framework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663363" y="2690813"/>
            <a:ext cx="296646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Tkinter — Python's standard library for creating graphical interfaces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33244" y="2067719"/>
            <a:ext cx="3496877" cy="175746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349247" y="2282130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Input methods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349247" y="269081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Button clicks and keyboard input with real-time validation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4014192"/>
            <a:ext cx="3496877" cy="174476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77479" y="4228604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Entry widget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977479" y="4637286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Restricted to valid calculator characters only (0–9, +, −, *, /, .)</a:t>
            </a:r>
            <a:endParaRPr lang="en-US" sz="14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47359" y="4014192"/>
            <a:ext cx="3496877" cy="174476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4663363" y="4228604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Error handling</a:t>
            </a:r>
            <a:endParaRPr lang="en-US" sz="1850" dirty="0"/>
          </a:p>
        </p:txBody>
      </p:sp>
      <p:sp>
        <p:nvSpPr>
          <p:cNvPr id="17" name="Text 10"/>
          <p:cNvSpPr/>
          <p:nvPr/>
        </p:nvSpPr>
        <p:spPr>
          <a:xfrm>
            <a:off x="4663363" y="4637286"/>
            <a:ext cx="296646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Try-except blocks to manage invalid expressions and mathematical errors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7453"/>
            <a:ext cx="10868745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kern="0" spc="-8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Core Functions: Arithmetic &amp; Scientific Operations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1233091"/>
            <a:ext cx="3552042" cy="1201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98403" y="1393825"/>
            <a:ext cx="315438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add(a, b)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898403" y="1678980"/>
            <a:ext cx="3154383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Returns the sum of two numbers. Accepts numeric input only. Used for all addition operations.</a:t>
            </a:r>
            <a:endParaRPr lang="en-US" sz="11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19777" y="1233091"/>
            <a:ext cx="3552042" cy="120193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56706" y="1393825"/>
            <a:ext cx="315438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subtract(a, b)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4556706" y="1678980"/>
            <a:ext cx="3154383" cy="396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Returns the difference of two numbers. Handles negative results correctly.</a:t>
            </a:r>
            <a:endParaRPr lang="en-US" sz="11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78079" y="1233091"/>
            <a:ext cx="3552042" cy="120193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215008" y="1393825"/>
            <a:ext cx="315438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multiply(a, b)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8215008" y="1678980"/>
            <a:ext cx="3154383" cy="396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Returns the product of two numbers. Accepts any numeric values, including decimals.</a:t>
            </a:r>
            <a:endParaRPr lang="en-US" sz="11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541290"/>
            <a:ext cx="3552042" cy="120193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98403" y="2702024"/>
            <a:ext cx="315438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divide(a, b)</a:t>
            </a:r>
            <a:endParaRPr lang="en-US" sz="1350" dirty="0"/>
          </a:p>
        </p:txBody>
      </p:sp>
      <p:sp>
        <p:nvSpPr>
          <p:cNvPr id="14" name="Text 8"/>
          <p:cNvSpPr/>
          <p:nvPr/>
        </p:nvSpPr>
        <p:spPr>
          <a:xfrm>
            <a:off x="898403" y="2987179"/>
            <a:ext cx="3154383" cy="396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Returns the quotient. Includes error handling to prevent division by zero crashes.</a:t>
            </a:r>
            <a:endParaRPr lang="en-US" sz="11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19777" y="2541290"/>
            <a:ext cx="3552042" cy="1201936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4556706" y="2702024"/>
            <a:ext cx="315438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expression_break(sign, expression)</a:t>
            </a:r>
            <a:endParaRPr lang="en-US" sz="1350" dirty="0"/>
          </a:p>
        </p:txBody>
      </p:sp>
      <p:sp>
        <p:nvSpPr>
          <p:cNvPr id="17" name="Text 10"/>
          <p:cNvSpPr/>
          <p:nvPr/>
        </p:nvSpPr>
        <p:spPr>
          <a:xfrm>
            <a:off x="4556706" y="2987179"/>
            <a:ext cx="3154383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Parses expressions by splitting at the operator. Essential for breaking down complex calculations into operands.</a:t>
            </a:r>
            <a:endParaRPr lang="en-US" sz="1100" dirty="0"/>
          </a:p>
        </p:txBody>
      </p:sp>
      <p:sp>
        <p:nvSpPr>
          <p:cNvPr id="18" name="Text 11"/>
          <p:cNvSpPr/>
          <p:nvPr/>
        </p:nvSpPr>
        <p:spPr>
          <a:xfrm>
            <a:off x="661475" y="3902670"/>
            <a:ext cx="10868745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b="1" kern="0" spc="-67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Scientific Functions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61475" y="4416524"/>
            <a:ext cx="3552042" cy="978098"/>
          </a:xfrm>
          <a:prstGeom prst="roundRect">
            <a:avLst>
              <a:gd name="adj" fmla="val 6087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809506" y="4564559"/>
            <a:ext cx="325598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Trigonometric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09506" y="4849713"/>
            <a:ext cx="3255980" cy="396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Sine, cosine, and tangent operations for angle-based calculations.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4319777" y="4416524"/>
            <a:ext cx="3552042" cy="978098"/>
          </a:xfrm>
          <a:prstGeom prst="roundRect">
            <a:avLst>
              <a:gd name="adj" fmla="val 6087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4467808" y="4564559"/>
            <a:ext cx="325598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Logarithmic</a:t>
            </a:r>
            <a:endParaRPr lang="en-US" sz="1350" dirty="0"/>
          </a:p>
        </p:txBody>
      </p:sp>
      <p:sp>
        <p:nvSpPr>
          <p:cNvPr id="24" name="Text 17"/>
          <p:cNvSpPr/>
          <p:nvPr/>
        </p:nvSpPr>
        <p:spPr>
          <a:xfrm>
            <a:off x="4467808" y="4849713"/>
            <a:ext cx="3255980" cy="396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and base-specific logarithm functions for exponential relationships.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7978079" y="4416524"/>
            <a:ext cx="3552042" cy="978098"/>
          </a:xfrm>
          <a:prstGeom prst="roundRect">
            <a:avLst>
              <a:gd name="adj" fmla="val 6087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8126110" y="4564559"/>
            <a:ext cx="325598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Power and Root</a:t>
            </a:r>
            <a:endParaRPr lang="en-US" sz="1350" dirty="0"/>
          </a:p>
        </p:txBody>
      </p:sp>
      <p:sp>
        <p:nvSpPr>
          <p:cNvPr id="27" name="Text 20"/>
          <p:cNvSpPr/>
          <p:nvPr/>
        </p:nvSpPr>
        <p:spPr>
          <a:xfrm>
            <a:off x="8126110" y="4849713"/>
            <a:ext cx="3255980" cy="396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Exponentiation and root calculations for advanced numeric operations.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61475" y="5500886"/>
            <a:ext cx="10868646" cy="779661"/>
          </a:xfrm>
          <a:prstGeom prst="roundRect">
            <a:avLst>
              <a:gd name="adj" fmla="val 7637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809506" y="5648920"/>
            <a:ext cx="1057258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Factorial and Remainder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809506" y="5934075"/>
            <a:ext cx="10572585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Factorial computation and modulus operations for discrete mathematical tasks.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2727"/>
            <a:ext cx="10868745" cy="5630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kern="0" spc="-10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Input Validation, Keyboard Support &amp; Error Handling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661475" y="1174452"/>
            <a:ext cx="10868745" cy="450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kern="0" spc="-85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Input Validation &amp; Keyboard Support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61475" y="1978223"/>
            <a:ext cx="89989" cy="89991"/>
          </a:xfrm>
          <a:prstGeom prst="ellipse">
            <a:avLst/>
          </a:prstGeom>
          <a:solidFill>
            <a:srgbClr val="4950BC"/>
          </a:solidFill>
          <a:ln/>
        </p:spPr>
      </p:sp>
      <p:sp>
        <p:nvSpPr>
          <p:cNvPr id="5" name="Text 3"/>
          <p:cNvSpPr/>
          <p:nvPr/>
        </p:nvSpPr>
        <p:spPr>
          <a:xfrm>
            <a:off x="923108" y="1882477"/>
            <a:ext cx="2294575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kern="0" spc="-5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key_filter(event)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923108" y="2266950"/>
            <a:ext cx="2294575" cy="8444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Allows only digits, operators, and decimal points.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32288" y="1978223"/>
            <a:ext cx="89989" cy="89991"/>
          </a:xfrm>
          <a:prstGeom prst="ellipse">
            <a:avLst/>
          </a:prstGeom>
          <a:solidFill>
            <a:srgbClr val="4950BC"/>
          </a:solidFill>
          <a:ln/>
        </p:spPr>
      </p:sp>
      <p:sp>
        <p:nvSpPr>
          <p:cNvPr id="8" name="Text 6"/>
          <p:cNvSpPr/>
          <p:nvPr/>
        </p:nvSpPr>
        <p:spPr>
          <a:xfrm>
            <a:off x="3693921" y="1882477"/>
            <a:ext cx="2294575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kern="0" spc="-5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press(input)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3693921" y="2266950"/>
            <a:ext cx="2294575" cy="562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Adds valid button input to the expression.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03100" y="1978223"/>
            <a:ext cx="89989" cy="89991"/>
          </a:xfrm>
          <a:prstGeom prst="ellipse">
            <a:avLst/>
          </a:prstGeom>
          <a:solidFill>
            <a:srgbClr val="4950BC"/>
          </a:solidFill>
          <a:ln/>
        </p:spPr>
      </p:sp>
      <p:sp>
        <p:nvSpPr>
          <p:cNvPr id="11" name="Text 9"/>
          <p:cNvSpPr/>
          <p:nvPr/>
        </p:nvSpPr>
        <p:spPr>
          <a:xfrm>
            <a:off x="6464734" y="1882477"/>
            <a:ext cx="2294575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kern="0" spc="-5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Enter Key Binding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6464734" y="2266950"/>
            <a:ext cx="2294575" cy="2878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 Enter to run </a:t>
            </a:r>
            <a:r>
              <a:rPr lang="en-US" sz="1400" kern="0" spc="-28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equal()</a:t>
            </a: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73913" y="1978223"/>
            <a:ext cx="89989" cy="89991"/>
          </a:xfrm>
          <a:prstGeom prst="ellipse">
            <a:avLst/>
          </a:prstGeom>
          <a:solidFill>
            <a:srgbClr val="4950BC"/>
          </a:solidFill>
          <a:ln/>
        </p:spPr>
      </p:sp>
      <p:sp>
        <p:nvSpPr>
          <p:cNvPr id="14" name="Text 12"/>
          <p:cNvSpPr/>
          <p:nvPr/>
        </p:nvSpPr>
        <p:spPr>
          <a:xfrm>
            <a:off x="9235546" y="1882477"/>
            <a:ext cx="2294674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kern="0" spc="-5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Scientific Input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235546" y="2266950"/>
            <a:ext cx="2294674" cy="562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Scientific functions are button-only.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1475" y="3368973"/>
            <a:ext cx="10868745" cy="450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kern="0" spc="-85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Error Handling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1475" y="4172744"/>
            <a:ext cx="89989" cy="89991"/>
          </a:xfrm>
          <a:prstGeom prst="ellipse">
            <a:avLst/>
          </a:prstGeom>
          <a:solidFill>
            <a:srgbClr val="4950BC"/>
          </a:solidFill>
          <a:ln/>
        </p:spPr>
      </p:sp>
      <p:sp>
        <p:nvSpPr>
          <p:cNvPr id="18" name="Text 16"/>
          <p:cNvSpPr/>
          <p:nvPr/>
        </p:nvSpPr>
        <p:spPr>
          <a:xfrm>
            <a:off x="923108" y="4076998"/>
            <a:ext cx="2294575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kern="0" spc="-5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Division by Zero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923108" y="4461470"/>
            <a:ext cx="2294575" cy="562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Shows an error instead of crashing.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432288" y="4172744"/>
            <a:ext cx="89989" cy="89991"/>
          </a:xfrm>
          <a:prstGeom prst="ellipse">
            <a:avLst/>
          </a:prstGeom>
          <a:solidFill>
            <a:srgbClr val="4950BC"/>
          </a:solidFill>
          <a:ln/>
        </p:spPr>
      </p:sp>
      <p:sp>
        <p:nvSpPr>
          <p:cNvPr id="21" name="Text 19"/>
          <p:cNvSpPr/>
          <p:nvPr/>
        </p:nvSpPr>
        <p:spPr>
          <a:xfrm>
            <a:off x="3693921" y="4076998"/>
            <a:ext cx="2294575" cy="562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kern="0" spc="-5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Malformed Expressions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3693921" y="4742954"/>
            <a:ext cx="2294575" cy="562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Catches incomplete formulas.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03100" y="4172744"/>
            <a:ext cx="89989" cy="89991"/>
          </a:xfrm>
          <a:prstGeom prst="ellipse">
            <a:avLst/>
          </a:prstGeom>
          <a:solidFill>
            <a:srgbClr val="4950BC"/>
          </a:solidFill>
          <a:ln/>
        </p:spPr>
      </p:sp>
      <p:sp>
        <p:nvSpPr>
          <p:cNvPr id="24" name="Text 22"/>
          <p:cNvSpPr/>
          <p:nvPr/>
        </p:nvSpPr>
        <p:spPr>
          <a:xfrm>
            <a:off x="6464734" y="4076998"/>
            <a:ext cx="2294575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kern="0" spc="-5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Alphabet Characters</a:t>
            </a:r>
            <a:endParaRPr lang="en-US" sz="1750" dirty="0"/>
          </a:p>
        </p:txBody>
      </p:sp>
      <p:sp>
        <p:nvSpPr>
          <p:cNvPr id="25" name="Text 23"/>
          <p:cNvSpPr/>
          <p:nvPr/>
        </p:nvSpPr>
        <p:spPr>
          <a:xfrm>
            <a:off x="6464734" y="4461470"/>
            <a:ext cx="2294575" cy="562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Rejects letters and unsupported input.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973913" y="4172744"/>
            <a:ext cx="89989" cy="89991"/>
          </a:xfrm>
          <a:prstGeom prst="ellipse">
            <a:avLst/>
          </a:prstGeom>
          <a:solidFill>
            <a:srgbClr val="4950BC"/>
          </a:solidFill>
          <a:ln/>
        </p:spPr>
      </p:sp>
      <p:sp>
        <p:nvSpPr>
          <p:cNvPr id="27" name="Text 25"/>
          <p:cNvSpPr/>
          <p:nvPr/>
        </p:nvSpPr>
        <p:spPr>
          <a:xfrm>
            <a:off x="9235546" y="4076998"/>
            <a:ext cx="2294674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kern="0" spc="-5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Invalid Scientific Input</a:t>
            </a:r>
            <a:endParaRPr lang="en-US" sz="1750" dirty="0"/>
          </a:p>
        </p:txBody>
      </p:sp>
      <p:sp>
        <p:nvSpPr>
          <p:cNvPr id="28" name="Text 26"/>
          <p:cNvSpPr/>
          <p:nvPr/>
        </p:nvSpPr>
        <p:spPr>
          <a:xfrm>
            <a:off x="9235546" y="4461470"/>
            <a:ext cx="2294674" cy="562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Blocks manual scientific entry.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61475" y="5745063"/>
            <a:ext cx="89989" cy="89991"/>
          </a:xfrm>
          <a:prstGeom prst="ellipse">
            <a:avLst/>
          </a:prstGeom>
          <a:solidFill>
            <a:srgbClr val="4950BC"/>
          </a:solidFill>
          <a:ln/>
        </p:spPr>
      </p:sp>
      <p:sp>
        <p:nvSpPr>
          <p:cNvPr id="30" name="Text 28"/>
          <p:cNvSpPr/>
          <p:nvPr/>
        </p:nvSpPr>
        <p:spPr>
          <a:xfrm>
            <a:off x="923108" y="5649317"/>
            <a:ext cx="10607112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kern="0" spc="-5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Factorial of Decimals</a:t>
            </a:r>
            <a:endParaRPr lang="en-US" sz="1750" dirty="0"/>
          </a:p>
        </p:txBody>
      </p:sp>
      <p:sp>
        <p:nvSpPr>
          <p:cNvPr id="31" name="Text 29"/>
          <p:cNvSpPr/>
          <p:nvPr/>
        </p:nvSpPr>
        <p:spPr>
          <a:xfrm>
            <a:off x="923108" y="6033790"/>
            <a:ext cx="10607112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Requires whole numbers.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1495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Valid Input Examples and Expected Behavior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678087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Arithmetic and Decimal Operations</a:t>
            </a:r>
            <a:endParaRPr lang="en-US" sz="1850" dirty="0"/>
          </a:p>
        </p:txBody>
      </p:sp>
      <p:sp>
        <p:nvSpPr>
          <p:cNvPr id="4" name="Shape 2"/>
          <p:cNvSpPr/>
          <p:nvPr/>
        </p:nvSpPr>
        <p:spPr>
          <a:xfrm>
            <a:off x="661475" y="2185988"/>
            <a:ext cx="5203794" cy="3844330"/>
          </a:xfrm>
          <a:prstGeom prst="roundRect">
            <a:avLst>
              <a:gd name="adj" fmla="val 2065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1475" y="2737445"/>
            <a:ext cx="5203794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661475" y="3285728"/>
            <a:ext cx="5203794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61475" y="3834011"/>
            <a:ext cx="5203794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61475" y="4382294"/>
            <a:ext cx="5203794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61475" y="4930577"/>
            <a:ext cx="5203794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61475" y="5478859"/>
            <a:ext cx="5203794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856931" y="2312095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452428" y="2312095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56931" y="2860377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+ 3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452428" y="2860377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6931" y="3408660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10 − 4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452428" y="3408660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56931" y="3956943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* 7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452428" y="3956943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56931" y="4505226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4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452428" y="4505226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56931" y="5053509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3.5 + 2.5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3452428" y="5053509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56931" y="5601791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10.5 / 2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3452428" y="5601791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5.25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332776" y="1678087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Scientific and Chained Operations</a:t>
            </a:r>
            <a:endParaRPr lang="en-US" sz="1850" dirty="0"/>
          </a:p>
        </p:txBody>
      </p:sp>
      <p:sp>
        <p:nvSpPr>
          <p:cNvPr id="26" name="Shape 24"/>
          <p:cNvSpPr/>
          <p:nvPr/>
        </p:nvSpPr>
        <p:spPr>
          <a:xfrm>
            <a:off x="6332776" y="2185988"/>
            <a:ext cx="5203794" cy="3844330"/>
          </a:xfrm>
          <a:prstGeom prst="roundRect">
            <a:avLst>
              <a:gd name="adj" fmla="val 2065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32776" y="2737445"/>
            <a:ext cx="5203794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332776" y="3285728"/>
            <a:ext cx="5203794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332776" y="3834011"/>
            <a:ext cx="5203794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332776" y="4382294"/>
            <a:ext cx="5203794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332776" y="4930577"/>
            <a:ext cx="5203794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332776" y="5478859"/>
            <a:ext cx="5203794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6528232" y="2312095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Expression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9123730" y="2312095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6528232" y="2860377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sin(0)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9123730" y="2860377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6528232" y="3408660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sqrt(16)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123730" y="3408660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6528232" y="3956943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log(100)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9123730" y="3956943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50" dirty="0"/>
          </a:p>
        </p:txBody>
      </p:sp>
      <p:sp>
        <p:nvSpPr>
          <p:cNvPr id="41" name="Text 39"/>
          <p:cNvSpPr/>
          <p:nvPr/>
        </p:nvSpPr>
        <p:spPr>
          <a:xfrm>
            <a:off x="6528232" y="4505226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fac(5)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9123730" y="4505226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120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6528232" y="5053509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+ 3 * 4</a:t>
            </a:r>
            <a:endParaRPr lang="en-US" sz="1450" dirty="0"/>
          </a:p>
        </p:txBody>
      </p:sp>
      <p:sp>
        <p:nvSpPr>
          <p:cNvPr id="44" name="Text 42"/>
          <p:cNvSpPr/>
          <p:nvPr/>
        </p:nvSpPr>
        <p:spPr>
          <a:xfrm>
            <a:off x="9123730" y="5053509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6528232" y="5601791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Keyboard: 5 + 3 + Enter</a:t>
            </a:r>
            <a:endParaRPr lang="en-US" sz="1450" dirty="0"/>
          </a:p>
        </p:txBody>
      </p:sp>
      <p:sp>
        <p:nvSpPr>
          <p:cNvPr id="46" name="Text 44"/>
          <p:cNvSpPr/>
          <p:nvPr/>
        </p:nvSpPr>
        <p:spPr>
          <a:xfrm>
            <a:off x="9123730" y="5601791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97834"/>
            <a:ext cx="10868745" cy="461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b="1" kern="0" spc="-87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Code Structure: A Detailed Breakdown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61475" y="764496"/>
            <a:ext cx="11478330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Below is a line-by-line breakdown of the scientific calculator code, organized by the main sections of the program and the role each one plays.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61474" y="1144290"/>
            <a:ext cx="11064361" cy="5301334"/>
          </a:xfrm>
          <a:prstGeom prst="rect">
            <a:avLst/>
          </a:prstGeom>
          <a:noFill/>
          <a:ln/>
        </p:spPr>
        <p:txBody>
          <a:bodyPr wrap="square" lIns="0" tIns="59068" rIns="0" bIns="0" rtlCol="0" anchor="t">
            <a:normAutofit fontScale="92500" lnSpcReduction="20000"/>
          </a:bodyPr>
          <a:lstStyle/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r>
              <a:rPr lang="en-US" sz="11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Imports and Window Setup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program starts by importing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tkinter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the GUI and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math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scientific calculations. It then creates the main window, sets the title, configures the geometry, and applies basic window settings so the calculator opens in a consistent layout.</a:t>
            </a:r>
            <a:endParaRPr lang="en-US" sz="1150" dirty="0"/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endParaRPr lang="en-US" sz="1150" b="1" kern="0" spc="-23" dirty="0">
              <a:solidFill>
                <a:srgbClr val="272525"/>
              </a:solidFill>
              <a:latin typeface="Inter Bold" pitchFamily="34" charset="0"/>
              <a:ea typeface="Inter Bold" pitchFamily="34" charset="-122"/>
              <a:cs typeface="Inter Bold" pitchFamily="34" charset="-120"/>
            </a:endParaRPr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r>
              <a:rPr lang="en-US" sz="11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Core Arithmetic Functions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functions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subtract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multiply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and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divide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accept numeric parameters and return the corresponding result. These functions form the foundation for the calculator’s basic operations and keep the arithmetic logic separate from the interface.</a:t>
            </a:r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endParaRPr lang="en-US" sz="1150" dirty="0"/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r>
              <a:rPr lang="en-US" sz="11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Expression Parsing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expression_break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function scans the input string and splits it around operators. This helps the calculator identify what kind of operation the user entered and separates the values needed for computation.</a:t>
            </a:r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endParaRPr lang="en-US" sz="1150" dirty="0"/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r>
              <a:rPr lang="en-US" sz="11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Scientific Functions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scientific_function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logic uses an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if-elif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chain to handle functions such as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tan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cos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sin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sqrt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ln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deg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rad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and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fac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Each branch checks the requested operation and applies the matching mathematical rule.</a:t>
            </a:r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endParaRPr lang="en-US" sz="1150" dirty="0"/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r>
              <a:rPr lang="en-US" sz="11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Main Calculation Logic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equal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function is the central evaluation point. It uses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try-except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blocks to catch invalid input and uses operator detection with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find()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rindex()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 determine which arithmetic path to execute before displaying the result.</a:t>
            </a:r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endParaRPr lang="en-US" sz="1150" dirty="0"/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r>
              <a:rPr lang="en-US" sz="11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Input Validation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key_filter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function blocks invalid characters from being typed into the entry field. This prevents unsupported input from reaching the calculator logic and reduces the chance of malformed expressions.</a:t>
            </a:r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endParaRPr lang="en-US" sz="1150" dirty="0"/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r>
              <a:rPr lang="en-US" sz="11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GUI Entry Widget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Entry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widget is connected to a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StringVar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so the display can be updated dynamically. It also binds keyboard actions such as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KP_Enter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so users can submit calculations directly from the keyboard.</a:t>
            </a:r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endParaRPr lang="en-US" sz="1150" dirty="0"/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r>
              <a:rPr lang="en-US" sz="11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Button Grid Layout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buttons are arranged in a structured grid with separate rows for scientific functions, number keys, and operation keys. This layout makes the calculator easy to scan and mirrors the familiar layout of a physical scientific calculator.</a:t>
            </a:r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endParaRPr lang="en-US" sz="1150" dirty="0"/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r>
              <a:rPr lang="en-US" sz="11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Event Handlers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press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function handles button clicks by inserting the selected value into the entry field. The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clear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back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functions support editing by removing all input or deleting the most recent character.</a:t>
            </a:r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endParaRPr lang="en-US" sz="1150" dirty="0"/>
          </a:p>
          <a:p>
            <a:pPr marL="233680" indent="-233680" algn="l">
              <a:lnSpc>
                <a:spcPct val="119000"/>
              </a:lnSpc>
              <a:buSzPct val="100000"/>
              <a:buChar char="•"/>
            </a:pPr>
            <a:r>
              <a:rPr lang="en-US" sz="11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Main Event Loop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program ends with </a:t>
            </a:r>
            <a:r>
              <a:rPr lang="en-US" sz="115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mainloop()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which keeps the window open and continuously listens for user actions. Without this event loop, the interface would appear briefly and then close immediately.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7630"/>
            <a:ext cx="10868745" cy="350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b="1" kern="0" spc="-6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Learning Outcomes &amp; Project Summary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61475" y="944959"/>
            <a:ext cx="10868745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kern="0" spc="-5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Learning Outcomes</a:t>
            </a:r>
            <a:endParaRPr lang="en-US" sz="17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1325364"/>
            <a:ext cx="280484" cy="28049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25202" y="1325364"/>
            <a:ext cx="5028975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kern="0" spc="-3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Core Python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25202" y="1540570"/>
            <a:ext cx="5028975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kern="0" spc="-1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skills in variables, functions, loops, and exception handling.</a:t>
            </a:r>
            <a:endParaRPr lang="en-US" sz="8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37419" y="1325364"/>
            <a:ext cx="280484" cy="28049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01146" y="1325364"/>
            <a:ext cx="5029074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kern="0" spc="-3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Tkinter Library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501146" y="1540570"/>
            <a:ext cx="5029074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kern="0" spc="-1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Created GUIs with widgets, layouts, and event binding.</a:t>
            </a:r>
            <a:endParaRPr lang="en-US" sz="8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475" y="1816894"/>
            <a:ext cx="280484" cy="28049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25202" y="1816894"/>
            <a:ext cx="5028975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kern="0" spc="-3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Visual Studio Code IDE</a:t>
            </a:r>
            <a:endParaRPr lang="en-US" sz="1100" dirty="0"/>
          </a:p>
        </p:txBody>
      </p:sp>
      <p:sp>
        <p:nvSpPr>
          <p:cNvPr id="12" name="Text 7"/>
          <p:cNvSpPr/>
          <p:nvPr/>
        </p:nvSpPr>
        <p:spPr>
          <a:xfrm>
            <a:off x="1025202" y="2032099"/>
            <a:ext cx="5028975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kern="0" spc="-1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Improved coding, debugging, and project organization.</a:t>
            </a:r>
            <a:endParaRPr lang="en-US" sz="8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37419" y="1816894"/>
            <a:ext cx="280484" cy="28049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1146" y="1816894"/>
            <a:ext cx="5029074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kern="0" spc="-3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GitHub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6501146" y="2032099"/>
            <a:ext cx="5029074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kern="0" spc="-1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version control and repository collaboration.</a:t>
            </a:r>
            <a:endParaRPr lang="en-US" sz="850" dirty="0"/>
          </a:p>
        </p:txBody>
      </p:sp>
      <p:sp>
        <p:nvSpPr>
          <p:cNvPr id="16" name="Text 10"/>
          <p:cNvSpPr/>
          <p:nvPr/>
        </p:nvSpPr>
        <p:spPr>
          <a:xfrm>
            <a:off x="661475" y="2275086"/>
            <a:ext cx="10868745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kern="0" spc="-5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 Features Implemented</a:t>
            </a:r>
            <a:endParaRPr lang="en-US" sz="175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1475" y="2655491"/>
            <a:ext cx="280484" cy="280491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61475" y="3019227"/>
            <a:ext cx="5392702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kern="0" spc="-3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Scientific Calculator GUI</a:t>
            </a:r>
            <a:endParaRPr lang="en-US" sz="1100" dirty="0"/>
          </a:p>
        </p:txBody>
      </p:sp>
      <p:sp>
        <p:nvSpPr>
          <p:cNvPr id="19" name="Text 12"/>
          <p:cNvSpPr/>
          <p:nvPr/>
        </p:nvSpPr>
        <p:spPr>
          <a:xfrm>
            <a:off x="661475" y="3234432"/>
            <a:ext cx="5392702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kern="0" spc="-1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and Tkinter interface.</a:t>
            </a:r>
            <a:endParaRPr lang="en-US" sz="85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37419" y="2655491"/>
            <a:ext cx="280484" cy="280491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137419" y="3019227"/>
            <a:ext cx="5392801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kern="0" spc="-3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12+ Mathematical Operations</a:t>
            </a:r>
            <a:endParaRPr lang="en-US" sz="1100" dirty="0"/>
          </a:p>
        </p:txBody>
      </p:sp>
      <p:sp>
        <p:nvSpPr>
          <p:cNvPr id="22" name="Text 14"/>
          <p:cNvSpPr/>
          <p:nvPr/>
        </p:nvSpPr>
        <p:spPr>
          <a:xfrm>
            <a:off x="6137419" y="3234432"/>
            <a:ext cx="5392801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kern="0" spc="-1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Arithmetic and scientific functions.</a:t>
            </a:r>
            <a:endParaRPr lang="en-US" sz="85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61475" y="3510756"/>
            <a:ext cx="280484" cy="280491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661475" y="3874492"/>
            <a:ext cx="5392702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kern="0" spc="-3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Input Validation</a:t>
            </a:r>
            <a:endParaRPr lang="en-US" sz="1100" dirty="0"/>
          </a:p>
        </p:txBody>
      </p:sp>
      <p:sp>
        <p:nvSpPr>
          <p:cNvPr id="25" name="Text 16"/>
          <p:cNvSpPr/>
          <p:nvPr/>
        </p:nvSpPr>
        <p:spPr>
          <a:xfrm>
            <a:off x="661475" y="4089698"/>
            <a:ext cx="5392702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kern="0" spc="-1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filtering with keyboard support.</a:t>
            </a:r>
            <a:endParaRPr lang="en-US" sz="850" dirty="0"/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137419" y="3510756"/>
            <a:ext cx="280484" cy="280491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137419" y="3874492"/>
            <a:ext cx="5392801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kern="0" spc="-3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Error Handling</a:t>
            </a:r>
            <a:endParaRPr lang="en-US" sz="1100" dirty="0"/>
          </a:p>
        </p:txBody>
      </p:sp>
      <p:sp>
        <p:nvSpPr>
          <p:cNvPr id="28" name="Text 18"/>
          <p:cNvSpPr/>
          <p:nvPr/>
        </p:nvSpPr>
        <p:spPr>
          <a:xfrm>
            <a:off x="6137419" y="4089698"/>
            <a:ext cx="5392801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kern="0" spc="-1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Handled common edge cases and invalid input.</a:t>
            </a:r>
            <a:endParaRPr lang="en-US" sz="850" dirty="0"/>
          </a:p>
        </p:txBody>
      </p:sp>
      <p:sp>
        <p:nvSpPr>
          <p:cNvPr id="29" name="Text 19"/>
          <p:cNvSpPr/>
          <p:nvPr/>
        </p:nvSpPr>
        <p:spPr>
          <a:xfrm>
            <a:off x="661475" y="4332684"/>
            <a:ext cx="10868745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kern="0" spc="-5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Technologies Used</a:t>
            </a:r>
            <a:endParaRPr lang="en-US" sz="1750" dirty="0"/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61475" y="4713089"/>
            <a:ext cx="280484" cy="280491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661475" y="5076825"/>
            <a:ext cx="5392702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kern="0" spc="-3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Python 3.x</a:t>
            </a:r>
            <a:endParaRPr lang="en-US" sz="1100" dirty="0"/>
          </a:p>
        </p:txBody>
      </p:sp>
      <p:sp>
        <p:nvSpPr>
          <p:cNvPr id="32" name="Text 21"/>
          <p:cNvSpPr/>
          <p:nvPr/>
        </p:nvSpPr>
        <p:spPr>
          <a:xfrm>
            <a:off x="661475" y="5292030"/>
            <a:ext cx="5392702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kern="0" spc="-1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language.</a:t>
            </a:r>
            <a:endParaRPr lang="en-US" sz="850" dirty="0"/>
          </a:p>
        </p:txBody>
      </p:sp>
      <p:pic>
        <p:nvPicPr>
          <p:cNvPr id="33" name="Image 9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137419" y="4713089"/>
            <a:ext cx="280484" cy="280491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137419" y="5076825"/>
            <a:ext cx="5392801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kern="0" spc="-3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Tkinter</a:t>
            </a:r>
            <a:endParaRPr lang="en-US" sz="1100" dirty="0"/>
          </a:p>
        </p:txBody>
      </p:sp>
      <p:sp>
        <p:nvSpPr>
          <p:cNvPr id="35" name="Text 23"/>
          <p:cNvSpPr/>
          <p:nvPr/>
        </p:nvSpPr>
        <p:spPr>
          <a:xfrm>
            <a:off x="6137419" y="5292030"/>
            <a:ext cx="5392801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kern="0" spc="-1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GUI framework.</a:t>
            </a:r>
            <a:endParaRPr lang="en-US" sz="850" dirty="0"/>
          </a:p>
        </p:txBody>
      </p:sp>
      <p:pic>
        <p:nvPicPr>
          <p:cNvPr id="36" name="Image 10" descr="preencoded.png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61475" y="5568355"/>
            <a:ext cx="280484" cy="280491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661475" y="5932091"/>
            <a:ext cx="5392702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kern="0" spc="-3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Math Module</a:t>
            </a:r>
            <a:endParaRPr lang="en-US" sz="1100" dirty="0"/>
          </a:p>
        </p:txBody>
      </p:sp>
      <p:sp>
        <p:nvSpPr>
          <p:cNvPr id="38" name="Text 25"/>
          <p:cNvSpPr/>
          <p:nvPr/>
        </p:nvSpPr>
        <p:spPr>
          <a:xfrm>
            <a:off x="661475" y="6147296"/>
            <a:ext cx="5392702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kern="0" spc="-1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Scientific calculations.</a:t>
            </a:r>
            <a:endParaRPr lang="en-US" sz="85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137419" y="5568355"/>
            <a:ext cx="280484" cy="280491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6137419" y="5932091"/>
            <a:ext cx="5392801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kern="0" spc="-3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Try-except Blocks</a:t>
            </a:r>
            <a:endParaRPr lang="en-US" sz="1100" dirty="0"/>
          </a:p>
        </p:txBody>
      </p:sp>
      <p:sp>
        <p:nvSpPr>
          <p:cNvPr id="41" name="Text 27"/>
          <p:cNvSpPr/>
          <p:nvPr/>
        </p:nvSpPr>
        <p:spPr>
          <a:xfrm>
            <a:off x="6137419" y="6147296"/>
            <a:ext cx="5392801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kern="0" spc="-1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Error management.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2805"/>
            <a:ext cx="10868745" cy="4522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kern="0" spc="-85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Implementation Highlights &amp; Project Output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61475" y="1029295"/>
            <a:ext cx="10868745" cy="361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50" b="1" kern="0" spc="-6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Implementation Highlights</a:t>
            </a:r>
            <a:endParaRPr lang="en-US" sz="22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1557238"/>
            <a:ext cx="2634093" cy="1443732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91608" y="1687413"/>
            <a:ext cx="173628" cy="173633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25182" y="2135981"/>
            <a:ext cx="2306679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4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Keyboard input filtering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825182" y="2428478"/>
            <a:ext cx="2306679" cy="408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Blocks invalid characters in real time.</a:t>
            </a:r>
            <a:endParaRPr lang="en-US" sz="11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06293" y="1557238"/>
            <a:ext cx="2634192" cy="1443732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36525" y="1687413"/>
            <a:ext cx="173628" cy="173633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3570000" y="2135981"/>
            <a:ext cx="2306778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4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Expression parsing</a:t>
            </a:r>
            <a:endParaRPr lang="en-US" sz="1400" dirty="0"/>
          </a:p>
        </p:txBody>
      </p:sp>
      <p:sp>
        <p:nvSpPr>
          <p:cNvPr id="11" name="Text 5"/>
          <p:cNvSpPr/>
          <p:nvPr/>
        </p:nvSpPr>
        <p:spPr>
          <a:xfrm>
            <a:off x="3570000" y="2428478"/>
            <a:ext cx="2306778" cy="408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Uses </a:t>
            </a:r>
            <a:r>
              <a:rPr lang="en-US" sz="1100" kern="0" spc="-23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expression_break()</a:t>
            </a:r>
            <a:r>
              <a:rPr lang="en-US" sz="11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calculation logic.</a:t>
            </a:r>
            <a:endParaRPr lang="en-US" sz="11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51210" y="1557238"/>
            <a:ext cx="2634093" cy="1443732"/>
          </a:xfrm>
          <a:prstGeom prst="rect">
            <a:avLst/>
          </a:prstGeom>
        </p:spPr>
      </p:pic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81343" y="1687413"/>
            <a:ext cx="173628" cy="173633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314917" y="2135981"/>
            <a:ext cx="2306679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4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Error management</a:t>
            </a:r>
            <a:endParaRPr lang="en-US" sz="1400" dirty="0"/>
          </a:p>
        </p:txBody>
      </p:sp>
      <p:sp>
        <p:nvSpPr>
          <p:cNvPr id="15" name="Text 7"/>
          <p:cNvSpPr/>
          <p:nvPr/>
        </p:nvSpPr>
        <p:spPr>
          <a:xfrm>
            <a:off x="6314917" y="2428478"/>
            <a:ext cx="2306679" cy="408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Handles division by zero and invalid operations.</a:t>
            </a:r>
            <a:endParaRPr lang="en-US" sz="1100" dirty="0"/>
          </a:p>
        </p:txBody>
      </p:sp>
      <p:pic>
        <p:nvPicPr>
          <p:cNvPr id="16" name="Image 6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96028" y="1557238"/>
            <a:ext cx="2634192" cy="1443732"/>
          </a:xfrm>
          <a:prstGeom prst="rect">
            <a:avLst/>
          </a:prstGeom>
        </p:spPr>
      </p:pic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26260" y="1687413"/>
            <a:ext cx="173628" cy="173633"/>
          </a:xfrm>
          <a:prstGeom prst="rect">
            <a:avLst/>
          </a:prstGeom>
        </p:spPr>
      </p:pic>
      <p:sp>
        <p:nvSpPr>
          <p:cNvPr id="18" name="Text 8"/>
          <p:cNvSpPr/>
          <p:nvPr/>
        </p:nvSpPr>
        <p:spPr>
          <a:xfrm>
            <a:off x="9059735" y="2135981"/>
            <a:ext cx="2306778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4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Clean structure</a:t>
            </a:r>
            <a:endParaRPr lang="en-US" sz="1400" dirty="0"/>
          </a:p>
        </p:txBody>
      </p:sp>
      <p:sp>
        <p:nvSpPr>
          <p:cNvPr id="19" name="Text 9"/>
          <p:cNvSpPr/>
          <p:nvPr/>
        </p:nvSpPr>
        <p:spPr>
          <a:xfrm>
            <a:off x="9059735" y="2428478"/>
            <a:ext cx="2306778" cy="408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Separates interface from core logic.</a:t>
            </a:r>
            <a:endParaRPr lang="en-US" sz="1100" dirty="0"/>
          </a:p>
        </p:txBody>
      </p:sp>
      <p:sp>
        <p:nvSpPr>
          <p:cNvPr id="20" name="Text 10"/>
          <p:cNvSpPr/>
          <p:nvPr/>
        </p:nvSpPr>
        <p:spPr>
          <a:xfrm>
            <a:off x="661475" y="3167162"/>
            <a:ext cx="10868745" cy="361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50" b="1" kern="0" spc="-6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Project Output</a:t>
            </a:r>
            <a:endParaRPr lang="en-US" sz="2250" dirty="0"/>
          </a:p>
        </p:txBody>
      </p:sp>
      <p:sp>
        <p:nvSpPr>
          <p:cNvPr id="21" name="Shape 11"/>
          <p:cNvSpPr/>
          <p:nvPr/>
        </p:nvSpPr>
        <p:spPr>
          <a:xfrm>
            <a:off x="661475" y="3695105"/>
            <a:ext cx="325529" cy="325537"/>
          </a:xfrm>
          <a:prstGeom prst="roundRect">
            <a:avLst>
              <a:gd name="adj" fmla="val 18672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22" name="Text 12"/>
          <p:cNvSpPr/>
          <p:nvPr/>
        </p:nvSpPr>
        <p:spPr>
          <a:xfrm>
            <a:off x="1097729" y="3744813"/>
            <a:ext cx="10432491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4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Fully functional scientific calculator</a:t>
            </a:r>
            <a:endParaRPr lang="en-US" sz="1400" dirty="0"/>
          </a:p>
        </p:txBody>
      </p:sp>
      <p:sp>
        <p:nvSpPr>
          <p:cNvPr id="23" name="Shape 13"/>
          <p:cNvSpPr/>
          <p:nvPr/>
        </p:nvSpPr>
        <p:spPr>
          <a:xfrm>
            <a:off x="661475" y="4242197"/>
            <a:ext cx="325529" cy="325537"/>
          </a:xfrm>
          <a:prstGeom prst="roundRect">
            <a:avLst>
              <a:gd name="adj" fmla="val 18672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24" name="Text 14"/>
          <p:cNvSpPr/>
          <p:nvPr/>
        </p:nvSpPr>
        <p:spPr>
          <a:xfrm>
            <a:off x="1097729" y="4291905"/>
            <a:ext cx="10432491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4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User-friendly interface</a:t>
            </a:r>
            <a:endParaRPr lang="en-US" sz="1400" dirty="0"/>
          </a:p>
        </p:txBody>
      </p:sp>
      <p:sp>
        <p:nvSpPr>
          <p:cNvPr id="25" name="Text 15"/>
          <p:cNvSpPr/>
          <p:nvPr/>
        </p:nvSpPr>
        <p:spPr>
          <a:xfrm>
            <a:off x="1097729" y="4584402"/>
            <a:ext cx="10432491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and professional to use.</a:t>
            </a:r>
            <a:endParaRPr lang="en-US" sz="1100" dirty="0"/>
          </a:p>
        </p:txBody>
      </p:sp>
      <p:sp>
        <p:nvSpPr>
          <p:cNvPr id="26" name="Shape 16"/>
          <p:cNvSpPr/>
          <p:nvPr/>
        </p:nvSpPr>
        <p:spPr>
          <a:xfrm>
            <a:off x="661475" y="5010348"/>
            <a:ext cx="325529" cy="325537"/>
          </a:xfrm>
          <a:prstGeom prst="roundRect">
            <a:avLst>
              <a:gd name="adj" fmla="val 18672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27" name="Text 17"/>
          <p:cNvSpPr/>
          <p:nvPr/>
        </p:nvSpPr>
        <p:spPr>
          <a:xfrm>
            <a:off x="1097729" y="5060057"/>
            <a:ext cx="10432491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4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Button and keyboard input</a:t>
            </a:r>
            <a:endParaRPr lang="en-US" sz="1400" dirty="0"/>
          </a:p>
        </p:txBody>
      </p:sp>
      <p:sp>
        <p:nvSpPr>
          <p:cNvPr id="28" name="Text 18"/>
          <p:cNvSpPr/>
          <p:nvPr/>
        </p:nvSpPr>
        <p:spPr>
          <a:xfrm>
            <a:off x="1097729" y="5352554"/>
            <a:ext cx="10432491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Supports both interaction methods.</a:t>
            </a:r>
            <a:endParaRPr lang="en-US" sz="1100" dirty="0"/>
          </a:p>
        </p:txBody>
      </p:sp>
      <p:sp>
        <p:nvSpPr>
          <p:cNvPr id="29" name="Shape 19"/>
          <p:cNvSpPr/>
          <p:nvPr/>
        </p:nvSpPr>
        <p:spPr>
          <a:xfrm>
            <a:off x="661475" y="5778500"/>
            <a:ext cx="325529" cy="325537"/>
          </a:xfrm>
          <a:prstGeom prst="roundRect">
            <a:avLst>
              <a:gd name="adj" fmla="val 18672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30" name="Text 20"/>
          <p:cNvSpPr/>
          <p:nvPr/>
        </p:nvSpPr>
        <p:spPr>
          <a:xfrm>
            <a:off x="1097729" y="5828209"/>
            <a:ext cx="10432491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4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Reliable documentation and stability</a:t>
            </a:r>
            <a:endParaRPr lang="en-US" sz="1400" dirty="0"/>
          </a:p>
        </p:txBody>
      </p:sp>
      <p:sp>
        <p:nvSpPr>
          <p:cNvPr id="31" name="Text 21"/>
          <p:cNvSpPr/>
          <p:nvPr/>
        </p:nvSpPr>
        <p:spPr>
          <a:xfrm>
            <a:off x="1097729" y="6120705"/>
            <a:ext cx="10432491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structure with crash prevention.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1155</Words>
  <Application>Microsoft Office PowerPoint</Application>
  <PresentationFormat>Widescreen</PresentationFormat>
  <Paragraphs>172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Inter</vt:lpstr>
      <vt:lpstr>Inter Bold</vt:lpstr>
      <vt:lpstr>Consolas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Sam Sandhu</cp:lastModifiedBy>
  <cp:revision>2</cp:revision>
  <dcterms:created xsi:type="dcterms:W3CDTF">2026-08-25T16:33:08Z</dcterms:created>
  <dcterms:modified xsi:type="dcterms:W3CDTF">2026-08-25T16:36:09Z</dcterms:modified>
</cp:coreProperties>
</file>