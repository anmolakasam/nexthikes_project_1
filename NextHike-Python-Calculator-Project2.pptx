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7.png"/><Relationship Id="rId10" Type="http://schemas.openxmlformats.org/officeDocument/2006/relationships/image" Target="../media/image-2-8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7.png"/><Relationship Id="rId10" Type="http://schemas.openxmlformats.org/officeDocument/2006/relationships/image" Target="../media/image-2-8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image" Target="../media/image-4-1.png"/><Relationship Id="rId8" Type="http://schemas.openxmlformats.org/officeDocument/2006/relationships/image" Target="../media/image-4-2.svg"/><Relationship Id="rId9" Type="http://schemas.openxmlformats.org/officeDocument/2006/relationships/image" Target="../media/image-4-1.png"/><Relationship Id="rId10" Type="http://schemas.openxmlformats.org/officeDocument/2006/relationships/image" Target="../media/image-4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7.png"/><Relationship Id="rId10" Type="http://schemas.openxmlformats.org/officeDocument/2006/relationships/image" Target="../media/image-7-8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3.png"/><Relationship Id="rId14" Type="http://schemas.openxmlformats.org/officeDocument/2006/relationships/image" Target="../media/image-9-14.svg"/><Relationship Id="rId15" Type="http://schemas.openxmlformats.org/officeDocument/2006/relationships/image" Target="../media/image-9-15.png"/><Relationship Id="rId16" Type="http://schemas.openxmlformats.org/officeDocument/2006/relationships/image" Target="../media/image-9-16.svg"/><Relationship Id="rId17" Type="http://schemas.openxmlformats.org/officeDocument/2006/relationships/image" Target="../media/image-9-17.png"/><Relationship Id="rId18" Type="http://schemas.openxmlformats.org/officeDocument/2006/relationships/image" Target="../media/image-9-18.svg"/><Relationship Id="rId19" Type="http://schemas.openxmlformats.org/officeDocument/2006/relationships/image" Target="../media/image-9-19.png"/><Relationship Id="rId20" Type="http://schemas.openxmlformats.org/officeDocument/2006/relationships/image" Target="../media/image-9-20.svg"/><Relationship Id="rId21" Type="http://schemas.openxmlformats.org/officeDocument/2006/relationships/image" Target="../media/image-9-21.png"/><Relationship Id="rId22" Type="http://schemas.openxmlformats.org/officeDocument/2006/relationships/image" Target="../media/image-9-22.svg"/><Relationship Id="rId23" Type="http://schemas.openxmlformats.org/officeDocument/2006/relationships/image" Target="../media/image-9-23.png"/><Relationship Id="rId24" Type="http://schemas.openxmlformats.org/officeDocument/2006/relationships/image" Target="../media/image-9-24.svg"/><Relationship Id="rId25" Type="http://schemas.openxmlformats.org/officeDocument/2006/relationships/image" Target="../media/image-9-25.png"/><Relationship Id="rId26" Type="http://schemas.openxmlformats.org/officeDocument/2006/relationships/image" Target="../media/image-9-26.svg"/><Relationship Id="rId27" Type="http://schemas.openxmlformats.org/officeDocument/2006/relationships/image" Target="../media/image-9-27.png"/><Relationship Id="rId28" Type="http://schemas.openxmlformats.org/officeDocument/2006/relationships/image" Target="../media/image-9-28.svg"/><Relationship Id="rId29" Type="http://schemas.openxmlformats.org/officeDocument/2006/relationships/image" Target="../media/image-9-7.png"/><Relationship Id="rId30" Type="http://schemas.openxmlformats.org/officeDocument/2006/relationships/image" Target="../media/image-9-8.svg"/><Relationship Id="rId31" Type="http://schemas.openxmlformats.org/officeDocument/2006/relationships/image" Target="../media/image-9-31.png"/><Relationship Id="rId32" Type="http://schemas.openxmlformats.org/officeDocument/2006/relationships/image" Target="../media/image-9-32.svg"/><Relationship Id="rId33" Type="http://schemas.openxmlformats.org/officeDocument/2006/relationships/image" Target="../media/image-9-33.png"/><Relationship Id="rId34" Type="http://schemas.openxmlformats.org/officeDocument/2006/relationships/image" Target="../media/image-9-34.svg"/><Relationship Id="rId35" Type="http://schemas.openxmlformats.org/officeDocument/2006/relationships/image" Target="../media/image-9-35.png"/><Relationship Id="rId36" Type="http://schemas.openxmlformats.org/officeDocument/2006/relationships/image" Target="../media/image-9-36.svg"/><Relationship Id="rId37" Type="http://schemas.openxmlformats.org/officeDocument/2006/relationships/image" Target="../media/image-9-37.png"/><Relationship Id="rId38" Type="http://schemas.openxmlformats.org/officeDocument/2006/relationships/image" Target="../media/image-9-38.svg"/><Relationship Id="rId39" Type="http://schemas.openxmlformats.org/officeDocument/2006/relationships/image" Target="../media/image-9-39.png"/><Relationship Id="rId40" Type="http://schemas.openxmlformats.org/officeDocument/2006/relationships/image" Target="../media/image-9-40.svg"/><Relationship Id="rId41" Type="http://schemas.openxmlformats.org/officeDocument/2006/relationships/image" Target="../media/image-9-41.png"/><Relationship Id="rId42" Type="http://schemas.openxmlformats.org/officeDocument/2006/relationships/image" Target="../media/image-9-42.svg"/><Relationship Id="rId43" Type="http://schemas.openxmlformats.org/officeDocument/2006/relationships/image" Target="../media/image-9-43.png"/><Relationship Id="rId44" Type="http://schemas.openxmlformats.org/officeDocument/2006/relationships/image" Target="../media/image-9-44.svg"/><Relationship Id="rId45" Type="http://schemas.openxmlformats.org/officeDocument/2006/relationships/image" Target="../media/image-9-31.png"/><Relationship Id="rId46" Type="http://schemas.openxmlformats.org/officeDocument/2006/relationships/image" Target="../media/image-9-32.svg"/><Relationship Id="rId47" Type="http://schemas.openxmlformats.org/officeDocument/2006/relationships/image" Target="../media/image-9-47.png"/><Relationship Id="rId48" Type="http://schemas.openxmlformats.org/officeDocument/2006/relationships/image" Target="../media/image-9-48.svg"/><Relationship Id="rId49" Type="http://schemas.openxmlformats.org/officeDocument/2006/relationships/image" Target="../media/image-9-49.png"/><Relationship Id="rId50" Type="http://schemas.openxmlformats.org/officeDocument/2006/relationships/image" Target="../media/image-9-50.svg"/><Relationship Id="rId51" Type="http://schemas.openxmlformats.org/officeDocument/2006/relationships/slideLayout" Target="../slideLayouts/slideLayout2.xml"/><Relationship Id="rId5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79340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NextHike – Python Calculator Project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356682" y="376207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GUI Calculator Using the Tkinter Library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5418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Overview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922859"/>
            <a:ext cx="3496877" cy="20471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137271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Graphical User Interface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2545953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fully functional scientific calculator with a graphical user interface built using Python and Tkinter.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1922859"/>
            <a:ext cx="3496877" cy="20471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363" y="2137271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Arithmetic Operations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663363" y="2545953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basic arithmetic operations: addition, subtraction, multiplication, and division.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1922859"/>
            <a:ext cx="3496877" cy="20471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9247" y="2137271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Scientific Functions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349247" y="2545953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Includes trigonometry, logarithms, square root, factorial, and power operations.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159052"/>
            <a:ext cx="3496877" cy="174476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7479" y="4373463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Dual Input Methods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77479" y="4782145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Accepts both button-based input and keyboard input with intelligent real-time filtering.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47359" y="4159052"/>
            <a:ext cx="3496877" cy="174476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663363" y="4373463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Error Handling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4663363" y="4782145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Implements comprehensive error handling for invalid expressions and mathematical edge cases.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9904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Architecture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067719"/>
            <a:ext cx="3496877" cy="17574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282130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Programming language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2690813"/>
            <a:ext cx="2966467" cy="919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3.x with the 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module imported as 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scientific calculations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067719"/>
            <a:ext cx="3496877" cy="17574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363" y="2282130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GUI framework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663363" y="2690813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Tkinter — Python's standard library for creating graphical interfaces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2067719"/>
            <a:ext cx="3496877" cy="175746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9247" y="2282130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Input methods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349247" y="2690813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Button clicks and keyboard input with real-time validation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014192"/>
            <a:ext cx="3496877" cy="174476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7479" y="4228604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Entry widget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77479" y="4637286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Restricted to valid calculator characters only (0–9, +, −, *, /, .)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47359" y="4014192"/>
            <a:ext cx="3496877" cy="174476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663363" y="4228604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Error handling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4663363" y="4637286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Try-except blocks to manage invalid expressions and mathematical errors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7453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spc="-8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Functions: Arithmetic &amp; Scientific Operations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233091"/>
            <a:ext cx="3552042" cy="1201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98403" y="1393825"/>
            <a:ext cx="315438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add(a, b)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898403" y="1678980"/>
            <a:ext cx="3154383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Returns the sum of two numbers. Accepts numeric input only. Used for all addition operations.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19777" y="1233091"/>
            <a:ext cx="3552042" cy="120193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56706" y="1393825"/>
            <a:ext cx="315438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subtract(a, b)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556706" y="1678980"/>
            <a:ext cx="3154383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Returns the difference of two numbers. Handles negative results correctly.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78079" y="1233091"/>
            <a:ext cx="3552042" cy="120193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15008" y="1393825"/>
            <a:ext cx="315438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multiply(a, b)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8215008" y="1678980"/>
            <a:ext cx="3154383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Returns the product of two numbers. Accepts any numeric values, including decimals.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2541290"/>
            <a:ext cx="3552042" cy="120193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8403" y="2702024"/>
            <a:ext cx="315438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divide(a, b)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898403" y="2987179"/>
            <a:ext cx="3154383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Returns the quotient. Includes error handling to prevent division by zero crashes.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19777" y="2541290"/>
            <a:ext cx="3552042" cy="120193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556706" y="2702024"/>
            <a:ext cx="315438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expression_break(sign, expression)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4556706" y="2987179"/>
            <a:ext cx="3154383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Parses expressions by splitting at the operator. Essential for breaking down complex calculations into operands.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661475" y="3902670"/>
            <a:ext cx="10868745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spc="-6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Scientific Functions</a:t>
            </a:r>
            <a:endParaRPr lang="en-US" sz="2200" dirty="0"/>
          </a:p>
        </p:txBody>
      </p:sp>
      <p:sp>
        <p:nvSpPr>
          <p:cNvPr id="19" name="Shape 12"/>
          <p:cNvSpPr/>
          <p:nvPr/>
        </p:nvSpPr>
        <p:spPr>
          <a:xfrm>
            <a:off x="661475" y="4416524"/>
            <a:ext cx="3552042" cy="978098"/>
          </a:xfrm>
          <a:prstGeom prst="roundRect">
            <a:avLst>
              <a:gd name="adj" fmla="val 6087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809506" y="4564559"/>
            <a:ext cx="325598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Trigonometric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809506" y="4849713"/>
            <a:ext cx="325598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Sine, cosine, and tangent operations for angle-based calculations.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4319777" y="4416524"/>
            <a:ext cx="3552042" cy="978098"/>
          </a:xfrm>
          <a:prstGeom prst="roundRect">
            <a:avLst>
              <a:gd name="adj" fmla="val 6087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4467808" y="4564559"/>
            <a:ext cx="325598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Logarithmic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4467808" y="4849713"/>
            <a:ext cx="325598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Natural and base-specific logarithm functions for exponential relationships.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7978079" y="4416524"/>
            <a:ext cx="3552042" cy="978098"/>
          </a:xfrm>
          <a:prstGeom prst="roundRect">
            <a:avLst>
              <a:gd name="adj" fmla="val 6087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8126110" y="4564559"/>
            <a:ext cx="325598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Power and Root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8126110" y="4849713"/>
            <a:ext cx="325598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Exponentiation and root calculations for advanced numeric operations.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61475" y="5500886"/>
            <a:ext cx="10868646" cy="779661"/>
          </a:xfrm>
          <a:prstGeom prst="roundRect">
            <a:avLst>
              <a:gd name="adj" fmla="val 7637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809506" y="5648920"/>
            <a:ext cx="1057258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Factorial and Remainder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809506" y="5934075"/>
            <a:ext cx="10572585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Factorial computation and modulus operations for discrete mathematical tasks.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0229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spc="-10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Input Validation and Keyboard Support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61475" y="1626691"/>
            <a:ext cx="405298" cy="405309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8992" y="1660426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spc="-6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238417" y="1688604"/>
            <a:ext cx="1029180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key_filter(event)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238417" y="2073077"/>
            <a:ext cx="10291803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Validates keyboard input in real time. Permits only digits (0–9), operators (+, −, *, /), and the decimal point. All alphabetic characters are blocked automatically.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61475" y="2979440"/>
            <a:ext cx="405298" cy="405309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8992" y="3013174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spc="-6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38417" y="3041352"/>
            <a:ext cx="1029180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press(input)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238417" y="3425825"/>
            <a:ext cx="1029180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Handles button clicks and appends input to the Entry widget. Ensures only valid characters are added to the expression string.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1475" y="4050705"/>
            <a:ext cx="405298" cy="405309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8992" y="4084439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spc="-6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238417" y="4112617"/>
            <a:ext cx="1029180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Enter Key Binding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238417" y="4497090"/>
            <a:ext cx="10291803" cy="287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Enter key is bound to the </a:t>
            </a:r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equal()</a:t>
            </a:r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function for immediate calculation, eliminating the need to click the equals button.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1475" y="5128320"/>
            <a:ext cx="405298" cy="405309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8992" y="5162054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spc="-6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238417" y="5190232"/>
            <a:ext cx="1029180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Button-Only Scientific Input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238417" y="5574705"/>
            <a:ext cx="10291803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Trigonometric and logarithmic functions are button-based only, ensuring correct syntax and preventing parsing errors from manual typing.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495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 Input Examples and Expected Behavior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7808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Arithmetic and Decimal Operations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661475" y="2185988"/>
            <a:ext cx="5203794" cy="3844330"/>
          </a:xfrm>
          <a:prstGeom prst="roundRect">
            <a:avLst>
              <a:gd name="adj" fmla="val 2065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1475" y="2737445"/>
            <a:ext cx="5203794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3285728"/>
            <a:ext cx="5203794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3834011"/>
            <a:ext cx="5203794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4382294"/>
            <a:ext cx="5203794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4930577"/>
            <a:ext cx="5203794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5478859"/>
            <a:ext cx="5203794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56931" y="2312095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452428" y="2312095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56931" y="2860377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+ 3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452428" y="2860377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56931" y="3408660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10 − 4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452428" y="3408660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56931" y="3956943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* 7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452428" y="3956943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56931" y="4505226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/ 4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452428" y="4505226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56931" y="5053509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3.5 + 2.5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3452428" y="5053509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6.0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56931" y="5601791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10.5 / 2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3452428" y="5601791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5.25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332776" y="167808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Scientific and Chained Operations</a:t>
            </a:r>
            <a:endParaRPr lang="en-US" sz="1850" dirty="0"/>
          </a:p>
        </p:txBody>
      </p:sp>
      <p:sp>
        <p:nvSpPr>
          <p:cNvPr id="26" name="Shape 24"/>
          <p:cNvSpPr/>
          <p:nvPr/>
        </p:nvSpPr>
        <p:spPr>
          <a:xfrm>
            <a:off x="6332776" y="2185988"/>
            <a:ext cx="5203794" cy="3844330"/>
          </a:xfrm>
          <a:prstGeom prst="roundRect">
            <a:avLst>
              <a:gd name="adj" fmla="val 2065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32776" y="2737445"/>
            <a:ext cx="5203794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332776" y="3285728"/>
            <a:ext cx="5203794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332776" y="3834011"/>
            <a:ext cx="5203794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332776" y="4382294"/>
            <a:ext cx="5203794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332776" y="4930577"/>
            <a:ext cx="5203794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332776" y="5478859"/>
            <a:ext cx="5203794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528232" y="2312095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Expression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9123730" y="2312095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6528232" y="2860377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sin(0)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9123730" y="2860377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6528232" y="3408660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sqrt(16)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9123730" y="3408660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6528232" y="3956943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log(100)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9123730" y="3956943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6528232" y="4505226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fac(5)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9123730" y="4505226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6528232" y="5053509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+ 3 * 4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9123730" y="5053509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6528232" y="5601791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Keyboard: 5 + 3 + Enter</a:t>
            </a:r>
            <a:endParaRPr lang="en-US" sz="1450" dirty="0"/>
          </a:p>
        </p:txBody>
      </p:sp>
      <p:sp>
        <p:nvSpPr>
          <p:cNvPr id="46" name="Text 44"/>
          <p:cNvSpPr/>
          <p:nvPr/>
        </p:nvSpPr>
        <p:spPr>
          <a:xfrm>
            <a:off x="9123730" y="5601791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534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Invalid Inputs and Error Handling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624013"/>
            <a:ext cx="3496877" cy="20471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1838424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Division by Zero — "5/0"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2247106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Caught by a try-except block. An error message is displayed, and the program continues without crashing.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1624013"/>
            <a:ext cx="3496877" cy="20471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363" y="1838424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Malformed Expressions — "5++3" or "*/5"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663363" y="2542381"/>
            <a:ext cx="2966467" cy="913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expression_break()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detects malformed syntax and triggers the error handler gracefully.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1624013"/>
            <a:ext cx="3496877" cy="20471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9247" y="1838424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Alphabet Characters — "5a+3"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349247" y="2542381"/>
            <a:ext cx="2966467" cy="913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character 'a' is automatically blocked by 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key_filter()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Only "5+3" is accepted into the Entry widget.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860205"/>
            <a:ext cx="3496877" cy="234245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7479" y="4074616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Invalid Scientific Input — "sqrt(−4)" or "log(0)"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77479" y="4778573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square root of a negative number and the logarithm of zero are mathematically undefined. Both trigger error messages.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47359" y="3860205"/>
            <a:ext cx="3496877" cy="234245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663363" y="4074616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Factorial of Decimals — "fac(5.5)"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4663363" y="4778573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Factorial is defined only for non-negative integers. Button-based input prevents this error; manual entry triggers the handler.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8154"/>
            <a:ext cx="10868745" cy="46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spc="-8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Code Structure: A Detailed Breakdown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1320304"/>
            <a:ext cx="11478330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Below is a line-by-line breakdown of the scientific calculator code, organized by the main sections of the program and the role each one plays.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660426"/>
            <a:ext cx="10868745" cy="4569420"/>
          </a:xfrm>
          <a:prstGeom prst="rect">
            <a:avLst/>
          </a:prstGeom>
          <a:noFill/>
          <a:ln/>
        </p:spPr>
        <p:txBody>
          <a:bodyPr wrap="square" lIns="0" tIns="59068" rIns="0" bIns="0" rtlCol="0" anchor="t">
            <a:normAutofit/>
          </a:bodyPr>
          <a:lstStyle/>
          <a:p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b="1" spc="-2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Imports and Window Setup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The program starts by importing 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tkinter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the GUI and 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scientific calculations. It then creates the main window, sets the title, configures the geometry, and applies basic window settings so the calculator opens in a consistent layout.</a:t>
            </a:r>
            <a:endParaRPr lang="en-US" sz="1150" dirty="0"/>
          </a:p>
          <a:p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b="1" spc="-2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Arithmetic Functions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The functions 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subtract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multiply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divide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accept numeric parameters and return the corresponding result. These functions form the foundation for the calculator’s basic operations and keep the arithmetic logic separate from the interface.</a:t>
            </a:r>
            <a:endParaRPr lang="en-US" sz="1150" dirty="0"/>
          </a:p>
          <a:p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b="1" spc="-2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Expression Parsing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The 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expression_break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function scans the input string and splits it around operators. This helps the calculator identify what kind of operation the user entered and separates the values needed for computation.</a:t>
            </a:r>
            <a:endParaRPr lang="en-US" sz="1150" dirty="0"/>
          </a:p>
          <a:p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b="1" spc="-2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Scientific Functions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The 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scientific_function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logic uses an 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if-elif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chain to handle functions such as 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tan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cos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sin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sqrt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ln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deg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rad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fac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Each branch checks the requested operation and applies the matching mathematical rule.</a:t>
            </a:r>
            <a:endParaRPr lang="en-US" sz="1150" dirty="0"/>
          </a:p>
          <a:p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b="1" spc="-2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 Calculation Logic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The 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equal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function is the central evaluation point. It uses 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try-except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blocks to catch invalid input and uses operator detection with 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find()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rindex()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determine which arithmetic path to execute before displaying the result.</a:t>
            </a:r>
            <a:endParaRPr lang="en-US" sz="1150" dirty="0"/>
          </a:p>
          <a:p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b="1" spc="-2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Input Validation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The 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key_filter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function blocks invalid characters from being typed into the entry field. This prevents unsupported input from reaching the calculator logic and reduces the chance of malformed expressions.</a:t>
            </a:r>
            <a:endParaRPr lang="en-US" sz="1150" dirty="0"/>
          </a:p>
          <a:p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b="1" spc="-2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GUI Entry Widget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The 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Entry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widget is connected to a 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StringVar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 the display can be updated dynamically. It also binds keyboard actions such as 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KP_Enter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 users can submit calculations directly from the keyboard.</a:t>
            </a:r>
            <a:endParaRPr lang="en-US" sz="1150" dirty="0"/>
          </a:p>
          <a:p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b="1" spc="-2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Button Grid Layout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The buttons are arranged in a structured grid with separate rows for scientific functions, number keys, and operation keys. This layout makes the calculator easy to scan and mirrors the familiar layout of a physical scientific calculator.</a:t>
            </a:r>
            <a:endParaRPr lang="en-US" sz="1150" dirty="0"/>
          </a:p>
          <a:p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b="1" spc="-2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Event Handlers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The 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press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function handles button clicks by inserting the selected value into the entry field. The 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clear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back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functions support editing by removing all input or deleting the most recent character.</a:t>
            </a:r>
            <a:endParaRPr lang="en-US" sz="1150" dirty="0"/>
          </a:p>
          <a:p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b="1" spc="-2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 Event Loop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The program ends with 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mainloop()</a:t>
            </a:r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which keeps the window open and continuously listens for user actions. Without this event loop, the interface would appear briefly and then close immediately.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Learning Outcomes &amp; Project Summary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833934"/>
            <a:ext cx="108687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Learning Outcomes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141016"/>
            <a:ext cx="236234" cy="23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6742" y="1141016"/>
            <a:ext cx="5109539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Python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956742" y="1316930"/>
            <a:ext cx="510953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Mastered variables, functions, conditionals, loops, and exception handling through practical application</a:t>
            </a:r>
            <a:endParaRPr lang="en-US" sz="7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5315" y="1141016"/>
            <a:ext cx="236234" cy="2362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20582" y="1141016"/>
            <a:ext cx="5109638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Tkinter Library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6420582" y="1316930"/>
            <a:ext cx="510963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Gained expertise in building graphical user interfaces with widgets, layouts, and event binding</a:t>
            </a:r>
            <a:endParaRPr lang="en-US" sz="7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1524794"/>
            <a:ext cx="236234" cy="2362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56742" y="1524794"/>
            <a:ext cx="5109539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Visual Studio Code IDE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956742" y="1700709"/>
            <a:ext cx="510953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Developed proficiency in code editing, debugging, and project management in a professional environment</a:t>
            </a:r>
            <a:endParaRPr lang="en-US" sz="7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25315" y="1524794"/>
            <a:ext cx="236234" cy="2362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20582" y="1524794"/>
            <a:ext cx="5109638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GitHub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6420582" y="1700709"/>
            <a:ext cx="510963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Learned version control, repository management, and collaborative development practices</a:t>
            </a:r>
            <a:endParaRPr lang="en-US" sz="700" dirty="0"/>
          </a:p>
        </p:txBody>
      </p:sp>
      <p:sp>
        <p:nvSpPr>
          <p:cNvPr id="16" name="Text 10"/>
          <p:cNvSpPr/>
          <p:nvPr/>
        </p:nvSpPr>
        <p:spPr>
          <a:xfrm>
            <a:off x="661475" y="1884958"/>
            <a:ext cx="108687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Features Implemented</a:t>
            </a:r>
            <a:endParaRPr lang="en-US" sz="14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2192040"/>
            <a:ext cx="236234" cy="2362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61475" y="2487315"/>
            <a:ext cx="358349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Scientific calculator with GUI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661475" y="2663230"/>
            <a:ext cx="358349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Scientific calculator with GUI using Python and Tkinter</a:t>
            </a:r>
            <a:endParaRPr lang="en-US" sz="7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04002" y="2192040"/>
            <a:ext cx="236234" cy="2362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304002" y="2487315"/>
            <a:ext cx="358359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12+ mathematical operations</a:t>
            </a:r>
            <a:endParaRPr lang="en-US" sz="900" dirty="0"/>
          </a:p>
        </p:txBody>
      </p:sp>
      <p:sp>
        <p:nvSpPr>
          <p:cNvPr id="22" name="Text 14"/>
          <p:cNvSpPr/>
          <p:nvPr/>
        </p:nvSpPr>
        <p:spPr>
          <a:xfrm>
            <a:off x="4304002" y="2663230"/>
            <a:ext cx="3583592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for 12+ mathematical operations (arithmetic and scientific)</a:t>
            </a:r>
            <a:endParaRPr lang="en-US" sz="7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946628" y="2192040"/>
            <a:ext cx="236234" cy="23624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7946628" y="2487315"/>
            <a:ext cx="358349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input validation</a:t>
            </a:r>
            <a:endParaRPr lang="en-US" sz="900" dirty="0"/>
          </a:p>
        </p:txBody>
      </p:sp>
      <p:sp>
        <p:nvSpPr>
          <p:cNvPr id="25" name="Text 16"/>
          <p:cNvSpPr/>
          <p:nvPr/>
        </p:nvSpPr>
        <p:spPr>
          <a:xfrm>
            <a:off x="7946628" y="2663230"/>
            <a:ext cx="358349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input validation and keyboard support</a:t>
            </a:r>
            <a:endParaRPr lang="en-US" sz="7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61475" y="2871093"/>
            <a:ext cx="236234" cy="23624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61475" y="3166368"/>
            <a:ext cx="358349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Comprehensive error handling</a:t>
            </a:r>
            <a:endParaRPr lang="en-US" sz="900" dirty="0"/>
          </a:p>
        </p:txBody>
      </p:sp>
      <p:sp>
        <p:nvSpPr>
          <p:cNvPr id="28" name="Text 18"/>
          <p:cNvSpPr/>
          <p:nvPr/>
        </p:nvSpPr>
        <p:spPr>
          <a:xfrm>
            <a:off x="661475" y="3342283"/>
            <a:ext cx="358349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error handling for edge cases</a:t>
            </a:r>
            <a:endParaRPr lang="en-US" sz="7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304002" y="2871093"/>
            <a:ext cx="236234" cy="23624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4304002" y="3166368"/>
            <a:ext cx="358359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Professional button grid layout</a:t>
            </a:r>
            <a:endParaRPr lang="en-US" sz="900" dirty="0"/>
          </a:p>
        </p:txBody>
      </p:sp>
      <p:sp>
        <p:nvSpPr>
          <p:cNvPr id="31" name="Text 20"/>
          <p:cNvSpPr/>
          <p:nvPr/>
        </p:nvSpPr>
        <p:spPr>
          <a:xfrm>
            <a:off x="4304002" y="3342283"/>
            <a:ext cx="3583592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 button grid layout with organized function categories</a:t>
            </a:r>
            <a:endParaRPr lang="en-US" sz="700" dirty="0"/>
          </a:p>
        </p:txBody>
      </p:sp>
      <p:sp>
        <p:nvSpPr>
          <p:cNvPr id="32" name="Text 21"/>
          <p:cNvSpPr/>
          <p:nvPr/>
        </p:nvSpPr>
        <p:spPr>
          <a:xfrm>
            <a:off x="661475" y="3526532"/>
            <a:ext cx="108687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Technologies Used</a:t>
            </a:r>
            <a:endParaRPr lang="en-US" sz="145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61475" y="3833614"/>
            <a:ext cx="236234" cy="23624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661475" y="4128889"/>
            <a:ext cx="5404806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 3.x</a:t>
            </a:r>
            <a:endParaRPr lang="en-US" sz="900" dirty="0"/>
          </a:p>
        </p:txBody>
      </p:sp>
      <p:sp>
        <p:nvSpPr>
          <p:cNvPr id="35" name="Text 23"/>
          <p:cNvSpPr/>
          <p:nvPr/>
        </p:nvSpPr>
        <p:spPr>
          <a:xfrm>
            <a:off x="661475" y="4304804"/>
            <a:ext cx="5404806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programming language</a:t>
            </a:r>
            <a:endParaRPr lang="en-US" sz="700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125315" y="3833614"/>
            <a:ext cx="236234" cy="236240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6125315" y="4128889"/>
            <a:ext cx="540490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Tkinter</a:t>
            </a:r>
            <a:endParaRPr lang="en-US" sz="900" dirty="0"/>
          </a:p>
        </p:txBody>
      </p:sp>
      <p:sp>
        <p:nvSpPr>
          <p:cNvPr id="38" name="Text 25"/>
          <p:cNvSpPr/>
          <p:nvPr/>
        </p:nvSpPr>
        <p:spPr>
          <a:xfrm>
            <a:off x="6125315" y="4304804"/>
            <a:ext cx="540490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 framework for interface design</a:t>
            </a:r>
            <a:endParaRPr lang="en-US" sz="700" dirty="0"/>
          </a:p>
        </p:txBody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61475" y="4512667"/>
            <a:ext cx="236234" cy="236240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661475" y="4807942"/>
            <a:ext cx="5404806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Math Module</a:t>
            </a:r>
            <a:endParaRPr lang="en-US" sz="900" dirty="0"/>
          </a:p>
        </p:txBody>
      </p:sp>
      <p:sp>
        <p:nvSpPr>
          <p:cNvPr id="41" name="Text 27"/>
          <p:cNvSpPr/>
          <p:nvPr/>
        </p:nvSpPr>
        <p:spPr>
          <a:xfrm>
            <a:off x="661475" y="4983857"/>
            <a:ext cx="5404806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Scientific calculations and functions</a:t>
            </a:r>
            <a:endParaRPr lang="en-US" sz="700" dirty="0"/>
          </a:p>
        </p:txBody>
      </p:sp>
      <p:pic>
        <p:nvPicPr>
          <p:cNvPr id="42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125315" y="4512667"/>
            <a:ext cx="236234" cy="236240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6125315" y="4807942"/>
            <a:ext cx="540490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Try-except Blocks</a:t>
            </a:r>
            <a:endParaRPr lang="en-US" sz="900" dirty="0"/>
          </a:p>
        </p:txBody>
      </p:sp>
      <p:sp>
        <p:nvSpPr>
          <p:cNvPr id="44" name="Text 29"/>
          <p:cNvSpPr/>
          <p:nvPr/>
        </p:nvSpPr>
        <p:spPr>
          <a:xfrm>
            <a:off x="6125315" y="4983857"/>
            <a:ext cx="540490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 handling and exception management</a:t>
            </a:r>
            <a:endParaRPr lang="en-US" sz="700" dirty="0"/>
          </a:p>
        </p:txBody>
      </p:sp>
      <p:pic>
        <p:nvPicPr>
          <p:cNvPr id="45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61475" y="5191720"/>
            <a:ext cx="236234" cy="236240"/>
          </a:xfrm>
          <a:prstGeom prst="rect">
            <a:avLst/>
          </a:prstGeom>
        </p:spPr>
      </p:pic>
      <p:sp>
        <p:nvSpPr>
          <p:cNvPr id="46" name="Text 30"/>
          <p:cNvSpPr/>
          <p:nvPr/>
        </p:nvSpPr>
        <p:spPr>
          <a:xfrm>
            <a:off x="661475" y="5486995"/>
            <a:ext cx="5404806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Visual Studio Code</a:t>
            </a:r>
            <a:endParaRPr lang="en-US" sz="900" dirty="0"/>
          </a:p>
        </p:txBody>
      </p:sp>
      <p:sp>
        <p:nvSpPr>
          <p:cNvPr id="47" name="Text 31"/>
          <p:cNvSpPr/>
          <p:nvPr/>
        </p:nvSpPr>
        <p:spPr>
          <a:xfrm>
            <a:off x="661475" y="5662910"/>
            <a:ext cx="5404806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Development environment</a:t>
            </a:r>
            <a:endParaRPr lang="en-US" sz="700" dirty="0"/>
          </a:p>
        </p:txBody>
      </p:sp>
      <p:pic>
        <p:nvPicPr>
          <p:cNvPr id="48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125315" y="5191720"/>
            <a:ext cx="236234" cy="236240"/>
          </a:xfrm>
          <a:prstGeom prst="rect">
            <a:avLst/>
          </a:prstGeom>
        </p:spPr>
      </p:pic>
      <p:sp>
        <p:nvSpPr>
          <p:cNvPr id="49" name="Text 32"/>
          <p:cNvSpPr/>
          <p:nvPr/>
        </p:nvSpPr>
        <p:spPr>
          <a:xfrm>
            <a:off x="6125315" y="5486995"/>
            <a:ext cx="540490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GitHub</a:t>
            </a:r>
            <a:endParaRPr lang="en-US" sz="900" dirty="0"/>
          </a:p>
        </p:txBody>
      </p:sp>
      <p:sp>
        <p:nvSpPr>
          <p:cNvPr id="50" name="Text 33"/>
          <p:cNvSpPr/>
          <p:nvPr/>
        </p:nvSpPr>
        <p:spPr>
          <a:xfrm>
            <a:off x="6125315" y="5662910"/>
            <a:ext cx="540490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 control system</a:t>
            </a:r>
            <a:endParaRPr lang="en-US" sz="700" dirty="0"/>
          </a:p>
        </p:txBody>
      </p:sp>
      <p:sp>
        <p:nvSpPr>
          <p:cNvPr id="51" name="Text 34"/>
          <p:cNvSpPr/>
          <p:nvPr/>
        </p:nvSpPr>
        <p:spPr>
          <a:xfrm>
            <a:off x="661475" y="5847159"/>
            <a:ext cx="108687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Implementation Highlights</a:t>
            </a:r>
            <a:endParaRPr lang="en-US" sz="1450" dirty="0"/>
          </a:p>
        </p:txBody>
      </p:sp>
      <p:pic>
        <p:nvPicPr>
          <p:cNvPr id="52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61475" y="6154241"/>
            <a:ext cx="236234" cy="236240"/>
          </a:xfrm>
          <a:prstGeom prst="rect">
            <a:avLst/>
          </a:prstGeom>
        </p:spPr>
      </p:pic>
      <p:sp>
        <p:nvSpPr>
          <p:cNvPr id="53" name="Text 35"/>
          <p:cNvSpPr/>
          <p:nvPr/>
        </p:nvSpPr>
        <p:spPr>
          <a:xfrm>
            <a:off x="956742" y="6154241"/>
            <a:ext cx="3288226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keyboard input filtering</a:t>
            </a:r>
            <a:endParaRPr lang="en-US" sz="900" dirty="0"/>
          </a:p>
        </p:txBody>
      </p:sp>
      <p:sp>
        <p:nvSpPr>
          <p:cNvPr id="54" name="Text 36"/>
          <p:cNvSpPr/>
          <p:nvPr/>
        </p:nvSpPr>
        <p:spPr>
          <a:xfrm>
            <a:off x="956742" y="6330156"/>
            <a:ext cx="3288226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keyboard input filtering to prevent invalid characters</a:t>
            </a:r>
            <a:endParaRPr lang="en-US" sz="700" dirty="0"/>
          </a:p>
        </p:txBody>
      </p:sp>
      <p:pic>
        <p:nvPicPr>
          <p:cNvPr id="55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4304002" y="6154241"/>
            <a:ext cx="236234" cy="236240"/>
          </a:xfrm>
          <a:prstGeom prst="rect">
            <a:avLst/>
          </a:prstGeom>
        </p:spPr>
      </p:pic>
      <p:sp>
        <p:nvSpPr>
          <p:cNvPr id="56" name="Text 37"/>
          <p:cNvSpPr/>
          <p:nvPr/>
        </p:nvSpPr>
        <p:spPr>
          <a:xfrm>
            <a:off x="4599269" y="6154241"/>
            <a:ext cx="328832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Expression parsing</a:t>
            </a:r>
            <a:endParaRPr lang="en-US" sz="900" dirty="0"/>
          </a:p>
        </p:txBody>
      </p:sp>
      <p:sp>
        <p:nvSpPr>
          <p:cNvPr id="57" name="Text 38"/>
          <p:cNvSpPr/>
          <p:nvPr/>
        </p:nvSpPr>
        <p:spPr>
          <a:xfrm>
            <a:off x="4599269" y="6330156"/>
            <a:ext cx="328832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Expression parsing using the expression_break() function</a:t>
            </a:r>
            <a:endParaRPr lang="en-US" sz="700" dirty="0"/>
          </a:p>
        </p:txBody>
      </p:sp>
      <p:pic>
        <p:nvPicPr>
          <p:cNvPr id="58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7946628" y="6154241"/>
            <a:ext cx="236234" cy="236240"/>
          </a:xfrm>
          <a:prstGeom prst="rect">
            <a:avLst/>
          </a:prstGeom>
        </p:spPr>
      </p:pic>
      <p:sp>
        <p:nvSpPr>
          <p:cNvPr id="59" name="Text 39"/>
          <p:cNvSpPr/>
          <p:nvPr/>
        </p:nvSpPr>
        <p:spPr>
          <a:xfrm>
            <a:off x="8241895" y="6154241"/>
            <a:ext cx="3288226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Event-driven architecture</a:t>
            </a:r>
            <a:endParaRPr lang="en-US" sz="900" dirty="0"/>
          </a:p>
        </p:txBody>
      </p:sp>
      <p:sp>
        <p:nvSpPr>
          <p:cNvPr id="60" name="Text 40"/>
          <p:cNvSpPr/>
          <p:nvPr/>
        </p:nvSpPr>
        <p:spPr>
          <a:xfrm>
            <a:off x="8241895" y="6330156"/>
            <a:ext cx="3288226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Event-driven architecture with button clicks and keyboard bindings</a:t>
            </a:r>
            <a:endParaRPr lang="en-US" sz="700" dirty="0"/>
          </a:p>
        </p:txBody>
      </p:sp>
      <p:pic>
        <p:nvPicPr>
          <p:cNvPr id="61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661475" y="6538020"/>
            <a:ext cx="236234" cy="236240"/>
          </a:xfrm>
          <a:prstGeom prst="rect">
            <a:avLst/>
          </a:prstGeom>
        </p:spPr>
      </p:pic>
      <p:sp>
        <p:nvSpPr>
          <p:cNvPr id="62" name="Text 41"/>
          <p:cNvSpPr/>
          <p:nvPr/>
        </p:nvSpPr>
        <p:spPr>
          <a:xfrm>
            <a:off x="956742" y="6538020"/>
            <a:ext cx="3288226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Robust error management</a:t>
            </a:r>
            <a:endParaRPr lang="en-US" sz="900" dirty="0"/>
          </a:p>
        </p:txBody>
      </p:sp>
      <p:sp>
        <p:nvSpPr>
          <p:cNvPr id="63" name="Text 42"/>
          <p:cNvSpPr/>
          <p:nvPr/>
        </p:nvSpPr>
        <p:spPr>
          <a:xfrm>
            <a:off x="956742" y="6713934"/>
            <a:ext cx="3288226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 error management for division by zero and invalid operations</a:t>
            </a:r>
            <a:endParaRPr lang="en-US" sz="700" dirty="0"/>
          </a:p>
        </p:txBody>
      </p:sp>
      <p:pic>
        <p:nvPicPr>
          <p:cNvPr id="64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4304002" y="6538020"/>
            <a:ext cx="236234" cy="236240"/>
          </a:xfrm>
          <a:prstGeom prst="rect">
            <a:avLst/>
          </a:prstGeom>
        </p:spPr>
      </p:pic>
      <p:sp>
        <p:nvSpPr>
          <p:cNvPr id="65" name="Text 43"/>
          <p:cNvSpPr/>
          <p:nvPr/>
        </p:nvSpPr>
        <p:spPr>
          <a:xfrm>
            <a:off x="4599269" y="6538020"/>
            <a:ext cx="328832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Clean separation</a:t>
            </a:r>
            <a:endParaRPr lang="en-US" sz="900" dirty="0"/>
          </a:p>
        </p:txBody>
      </p:sp>
      <p:sp>
        <p:nvSpPr>
          <p:cNvPr id="66" name="Text 44"/>
          <p:cNvSpPr/>
          <p:nvPr/>
        </p:nvSpPr>
        <p:spPr>
          <a:xfrm>
            <a:off x="4599269" y="6713934"/>
            <a:ext cx="328832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separation of logic and interface components</a:t>
            </a:r>
            <a:endParaRPr lang="en-US" sz="700" dirty="0"/>
          </a:p>
        </p:txBody>
      </p:sp>
      <p:sp>
        <p:nvSpPr>
          <p:cNvPr id="67" name="Text 45"/>
          <p:cNvSpPr/>
          <p:nvPr/>
        </p:nvSpPr>
        <p:spPr>
          <a:xfrm>
            <a:off x="661475" y="6898184"/>
            <a:ext cx="108687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Output</a:t>
            </a:r>
            <a:endParaRPr lang="en-US" sz="1450" dirty="0"/>
          </a:p>
        </p:txBody>
      </p:sp>
      <p:pic>
        <p:nvPicPr>
          <p:cNvPr id="68" name="Image 20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661475" y="7205266"/>
            <a:ext cx="236234" cy="236240"/>
          </a:xfrm>
          <a:prstGeom prst="rect">
            <a:avLst/>
          </a:prstGeom>
        </p:spPr>
      </p:pic>
      <p:sp>
        <p:nvSpPr>
          <p:cNvPr id="69" name="Text 46"/>
          <p:cNvSpPr/>
          <p:nvPr/>
        </p:nvSpPr>
        <p:spPr>
          <a:xfrm>
            <a:off x="661475" y="7500541"/>
            <a:ext cx="358349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Fully functional scientific calculator application</a:t>
            </a:r>
            <a:endParaRPr lang="en-US" sz="900" dirty="0"/>
          </a:p>
        </p:txBody>
      </p:sp>
      <p:sp>
        <p:nvSpPr>
          <p:cNvPr id="70" name="Text 47"/>
          <p:cNvSpPr/>
          <p:nvPr/>
        </p:nvSpPr>
        <p:spPr>
          <a:xfrm>
            <a:off x="661475" y="7676455"/>
            <a:ext cx="358349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functional scientific calculator application</a:t>
            </a:r>
            <a:endParaRPr lang="en-US" sz="700" dirty="0"/>
          </a:p>
        </p:txBody>
      </p:sp>
      <p:pic>
        <p:nvPicPr>
          <p:cNvPr id="71" name="Image 21" descr="preencoded.png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4304002" y="7205266"/>
            <a:ext cx="236234" cy="236240"/>
          </a:xfrm>
          <a:prstGeom prst="rect">
            <a:avLst/>
          </a:prstGeom>
        </p:spPr>
      </p:pic>
      <p:sp>
        <p:nvSpPr>
          <p:cNvPr id="72" name="Text 48"/>
          <p:cNvSpPr/>
          <p:nvPr/>
        </p:nvSpPr>
        <p:spPr>
          <a:xfrm>
            <a:off x="4304002" y="7500541"/>
            <a:ext cx="358359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Professional, user-friendly interface</a:t>
            </a:r>
            <a:endParaRPr lang="en-US" sz="900" dirty="0"/>
          </a:p>
        </p:txBody>
      </p:sp>
      <p:sp>
        <p:nvSpPr>
          <p:cNvPr id="73" name="Text 49"/>
          <p:cNvSpPr/>
          <p:nvPr/>
        </p:nvSpPr>
        <p:spPr>
          <a:xfrm>
            <a:off x="4304002" y="7676455"/>
            <a:ext cx="3583592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Professional, user-friendly interface with intuitive design</a:t>
            </a:r>
            <a:endParaRPr lang="en-US" sz="700" dirty="0"/>
          </a:p>
        </p:txBody>
      </p:sp>
      <p:pic>
        <p:nvPicPr>
          <p:cNvPr id="74" name="Image 22" descr="preencoded.png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7946628" y="7205266"/>
            <a:ext cx="236234" cy="236240"/>
          </a:xfrm>
          <a:prstGeom prst="rect">
            <a:avLst/>
          </a:prstGeom>
        </p:spPr>
      </p:pic>
      <p:sp>
        <p:nvSpPr>
          <p:cNvPr id="75" name="Text 50"/>
          <p:cNvSpPr/>
          <p:nvPr/>
        </p:nvSpPr>
        <p:spPr>
          <a:xfrm>
            <a:off x="7946628" y="7500541"/>
            <a:ext cx="358349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Supports both button-based and keyboard input methods</a:t>
            </a:r>
            <a:endParaRPr lang="en-US" sz="900" dirty="0"/>
          </a:p>
        </p:txBody>
      </p:sp>
      <p:sp>
        <p:nvSpPr>
          <p:cNvPr id="76" name="Text 51"/>
          <p:cNvSpPr/>
          <p:nvPr/>
        </p:nvSpPr>
        <p:spPr>
          <a:xfrm>
            <a:off x="7946628" y="7676455"/>
            <a:ext cx="358349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both button-based and keyboard input methods</a:t>
            </a:r>
            <a:endParaRPr lang="en-US" sz="700" dirty="0"/>
          </a:p>
        </p:txBody>
      </p:sp>
      <p:pic>
        <p:nvPicPr>
          <p:cNvPr id="77" name="Image 23" descr="preencoded.png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661475" y="7884319"/>
            <a:ext cx="236234" cy="236240"/>
          </a:xfrm>
          <a:prstGeom prst="rect">
            <a:avLst/>
          </a:prstGeom>
        </p:spPr>
      </p:pic>
      <p:sp>
        <p:nvSpPr>
          <p:cNvPr id="78" name="Text 52"/>
          <p:cNvSpPr/>
          <p:nvPr/>
        </p:nvSpPr>
        <p:spPr>
          <a:xfrm>
            <a:off x="661475" y="8179594"/>
            <a:ext cx="358349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Reliable error handling</a:t>
            </a:r>
            <a:endParaRPr lang="en-US" sz="900" dirty="0"/>
          </a:p>
        </p:txBody>
      </p:sp>
      <p:sp>
        <p:nvSpPr>
          <p:cNvPr id="79" name="Text 53"/>
          <p:cNvSpPr/>
          <p:nvPr/>
        </p:nvSpPr>
        <p:spPr>
          <a:xfrm>
            <a:off x="661475" y="8355509"/>
            <a:ext cx="358349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Reliable error handling that prevents application crashes</a:t>
            </a:r>
            <a:endParaRPr lang="en-US" sz="700" dirty="0"/>
          </a:p>
        </p:txBody>
      </p:sp>
      <p:pic>
        <p:nvPicPr>
          <p:cNvPr id="80" name="Image 24" descr="preencoded.png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4304002" y="7884319"/>
            <a:ext cx="236234" cy="236240"/>
          </a:xfrm>
          <a:prstGeom prst="rect">
            <a:avLst/>
          </a:prstGeom>
        </p:spPr>
      </p:pic>
      <p:sp>
        <p:nvSpPr>
          <p:cNvPr id="81" name="Text 54"/>
          <p:cNvSpPr/>
          <p:nvPr/>
        </p:nvSpPr>
        <p:spPr>
          <a:xfrm>
            <a:off x="4304002" y="8179594"/>
            <a:ext cx="358359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Complete documentation</a:t>
            </a:r>
            <a:endParaRPr lang="en-US" sz="900" dirty="0"/>
          </a:p>
        </p:txBody>
      </p:sp>
      <p:sp>
        <p:nvSpPr>
          <p:cNvPr id="82" name="Text 55"/>
          <p:cNvSpPr/>
          <p:nvPr/>
        </p:nvSpPr>
        <p:spPr>
          <a:xfrm>
            <a:off x="4304002" y="8355509"/>
            <a:ext cx="3583592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documentation and code structure explanation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79340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356682" y="376207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am immensely grateful for the invaluable opportunity and guidance provided throughout this project.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2026-08-25T16:19:54Z</dcterms:created>
  <dcterms:modified xsi:type="dcterms:W3CDTF">2026-08-25T16:19:54Z</dcterms:modified>
</cp:coreProperties>
</file>